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5"/>
  </p:handoutMasterIdLst>
  <p:sldIdLst>
    <p:sldId id="256" r:id="rId3"/>
    <p:sldId id="258" r:id="rId5"/>
    <p:sldId id="262" r:id="rId6"/>
    <p:sldId id="260" r:id="rId7"/>
    <p:sldId id="261" r:id="rId8"/>
    <p:sldId id="263" r:id="rId9"/>
    <p:sldId id="264" r:id="rId10"/>
    <p:sldId id="266" r:id="rId11"/>
    <p:sldId id="265" r:id="rId12"/>
    <p:sldId id="267" r:id="rId13"/>
    <p:sldId id="268" r:id="rId14"/>
    <p:sldId id="269" r:id="rId15"/>
    <p:sldId id="270" r:id="rId16"/>
    <p:sldId id="271" r:id="rId17"/>
    <p:sldId id="272" r:id="rId18"/>
    <p:sldId id="274" r:id="rId19"/>
    <p:sldId id="275" r:id="rId20"/>
    <p:sldId id="276" r:id="rId21"/>
    <p:sldId id="277" r:id="rId22"/>
    <p:sldId id="278" r:id="rId23"/>
    <p:sldId id="280" r:id="rId24"/>
    <p:sldId id="279" r:id="rId25"/>
    <p:sldId id="281" r:id="rId26"/>
    <p:sldId id="282" r:id="rId27"/>
    <p:sldId id="283" r:id="rId28"/>
    <p:sldId id="284" r:id="rId29"/>
    <p:sldId id="285" r:id="rId30"/>
    <p:sldId id="286" r:id="rId31"/>
    <p:sldId id="287" r:id="rId32"/>
    <p:sldId id="288" r:id="rId33"/>
    <p:sldId id="289" r:id="rId34"/>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80" autoAdjust="0"/>
    <p:restoredTop sz="86374"/>
  </p:normalViewPr>
  <p:slideViewPr>
    <p:cSldViewPr snapToGrid="0" showGuides="1">
      <p:cViewPr varScale="1">
        <p:scale>
          <a:sx n="127" d="100"/>
          <a:sy n="127" d="100"/>
        </p:scale>
        <p:origin x="1952" y="184"/>
      </p:cViewPr>
      <p:guideLst>
        <p:guide orient="horz" pos="2160"/>
        <p:guide pos="3857"/>
      </p:guideLst>
    </p:cSldViewPr>
  </p:slideViewPr>
  <p:outlineViewPr>
    <p:cViewPr>
      <p:scale>
        <a:sx n="33" d="100"/>
        <a:sy n="33" d="100"/>
      </p:scale>
      <p:origin x="0" y="0"/>
    </p:cViewPr>
  </p:outlin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handoutMaster" Target="handoutMasters/handoutMaster1.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a:t>Hello everyone, </a:t>
            </a:r>
            <a:r>
              <a:rPr kumimoji="1" lang="en-US" altLang="zh-CN"/>
              <a:t>this</a:t>
            </a:r>
            <a:r>
              <a:rPr kumimoji="1" lang="zh-CN" altLang="en-US"/>
              <a:t> is Wendi, and today I will present my study on predicting discrimination and violence against LGBTIQ+ individuals using machine learning</a:t>
            </a:r>
            <a:r>
              <a:rPr kumimoji="1" lang="en-US" altLang="zh-CN"/>
              <a:t> methods.</a:t>
            </a:r>
            <a:endParaRPr kumimoji="1" lang="en-US" altLang="zh-CN"/>
          </a:p>
          <a:p>
            <a:endParaRPr kumimoji="1"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"LGBTIQ+ individuals experience different levels of discrimination and violence, but what determines these differences?"</a:t>
            </a:r>
            <a:endParaRPr lang="zh-CN" altLang="en-US"/>
          </a:p>
          <a:p>
            <a:r>
              <a:rPr lang="zh-CN" altLang="en-US"/>
              <a:t>"This study aims to answer two key questions:"</a:t>
            </a:r>
            <a:endParaRPr lang="zh-CN" altLang="en-US"/>
          </a:p>
          <a:p>
            <a:endParaRPr lang="zh-CN" altLang="en-US"/>
          </a:p>
          <a:p>
            <a:r>
              <a:rPr lang="zh-CN" altLang="en-US"/>
              <a:t>How do gender identity, economic status, and minority identity influence the likelihood of experiencing discrimination and violence?</a:t>
            </a:r>
            <a:endParaRPr lang="zh-CN" altLang="en-US"/>
          </a:p>
          <a:p>
            <a:r>
              <a:rPr lang="zh-CN" altLang="en-US"/>
              <a:t>Which social factors are the strongest predictors of these experiences?</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Based on prior research, I hypothesize that:"</a:t>
            </a:r>
            <a:endParaRPr lang="zh-CN" altLang="en-US"/>
          </a:p>
          <a:p>
            <a:endParaRPr lang="zh-CN" altLang="en-US"/>
          </a:p>
          <a:p>
            <a:r>
              <a:rPr lang="zh-CN" altLang="en-US"/>
              <a:t>Transgender and non-binary individuals face the highest risk of discrimination and violence.</a:t>
            </a:r>
            <a:endParaRPr lang="zh-CN" altLang="en-US"/>
          </a:p>
          <a:p>
            <a:r>
              <a:rPr lang="zh-CN" altLang="en-US"/>
              <a:t>Low-income individuals are more vulnerable.</a:t>
            </a:r>
            <a:endParaRPr lang="zh-CN" altLang="en-US"/>
          </a:p>
          <a:p>
            <a:r>
              <a:rPr lang="zh-CN" altLang="en-US"/>
              <a:t>Multiply marginalized groups experience compounded discrimination.</a:t>
            </a:r>
            <a:endParaRPr lang="zh-CN" altLang="en-US"/>
          </a:p>
          <a:p>
            <a:r>
              <a:rPr lang="zh-CN" altLang="en-US"/>
              <a:t>"To test these hypotheses, I use large-scale survey data and machine learning models."</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I use the EU LGBTIQ Survey III (2023), which contains responses from over 100,000 individuals across Europe.</a:t>
            </a:r>
            <a:endParaRPr lang="zh-CN" altLang="en-US"/>
          </a:p>
          <a:p>
            <a:endParaRPr lang="zh-CN" altLang="en-US"/>
          </a:p>
          <a:p>
            <a:r>
              <a:rPr lang="zh-CN" altLang="en-US"/>
              <a:t>🔹 This dataset provides rich information on discrimination and violence experiences, along with various demographic, economic, and social identity factors.</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b="1">
                <a:sym typeface="+mn-ea"/>
              </a:rPr>
              <a:t>Core Independent Variables</a:t>
            </a:r>
            <a:endParaRPr lang="en-US" altLang="zh-CN" b="1"/>
          </a:p>
          <a:p>
            <a:r>
              <a:rPr lang="zh-CN" altLang="en-US" b="1">
                <a:solidFill>
                  <a:srgbClr val="C00000"/>
                </a:solidFill>
                <a:sym typeface="+mn-ea"/>
              </a:rPr>
              <a:t>gender identity， economic status, and minority identity</a:t>
            </a:r>
            <a:endParaRPr lang="zh-CN" altLang="en-US" b="1">
              <a:solidFill>
                <a:srgbClr val="C00000"/>
              </a:solidFill>
              <a:sym typeface="+mn-ea"/>
            </a:endParaRPr>
          </a:p>
          <a:p>
            <a:endParaRPr lang="zh-CN" altLang="en-US"/>
          </a:p>
          <a:p>
            <a:r>
              <a:rPr lang="en-US" altLang="zh-CN"/>
              <a:t>the sample sizes of minor groups like trans or multiple minorities are pretty small compared to other groups. It also leads to problem when predicting.</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Demographics (age, country, education, marital status, religion).</a:t>
            </a:r>
            <a:endParaRPr lang="zh-CN" altLang="en-US"/>
          </a:p>
          <a:p>
            <a:endParaRPr lang="zh-CN" altLang="en-US"/>
          </a:p>
          <a:p>
            <a:r>
              <a:rPr lang="zh-CN" altLang="en-US"/>
              <a:t>Socioeconomic &amp; Living Conditions (residence type, economic status, life satisfaction, location comfort).</a:t>
            </a:r>
            <a:endParaRPr lang="zh-CN" altLang="en-US"/>
          </a:p>
          <a:p>
            <a:endParaRPr lang="zh-CN" altLang="en-US"/>
          </a:p>
          <a:p>
            <a:r>
              <a:rPr lang="zh-CN" altLang="en-US"/>
              <a:t>Identity &amp; Social Experience (outness, disclosure locations, PDA comfort, coming-out age).</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Discrimination – Self-reported experiences in employment, housing, healthcare, education, public spaces, and government services.</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Since these discrimination variables were highly correlated, factor analysis was conducted to determine whether they could be combined into a single measure.</a:t>
            </a:r>
            <a:endParaRPr lang="zh-CN" altLang="en-US"/>
          </a:p>
          <a:p>
            <a:r>
              <a:rPr lang="zh-CN" altLang="en-US"/>
              <a:t>The heatmap of correlation coefficients shows strong relationships between the variables</a:t>
            </a:r>
            <a:endParaRPr lang="zh-CN" altLang="en-US"/>
          </a:p>
          <a:p>
            <a:r>
              <a:rPr lang="zh-CN" altLang="en-US"/>
              <a:t>the screen plot below shows that the first factor has a dominant eigenvalue, capturing most of the variance across the discrimination contexts</a:t>
            </a:r>
            <a:endParaRPr lang="zh-CN" altLang="en-US"/>
          </a:p>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Given the results of the factor analysis, we created a composite variable called “Total Number of Discrimination Contexts” (variable name: disc_total). </a:t>
            </a:r>
            <a:endParaRPr lang="zh-CN" altLang="en-US"/>
          </a:p>
          <a:p>
            <a:endParaRPr lang="zh-CN" altLang="en-US"/>
          </a:p>
          <a:p>
            <a:r>
              <a:rPr lang="en-US" altLang="zh-CN"/>
              <a:t>this chart shows that </a:t>
            </a:r>
            <a:r>
              <a:rPr lang="zh-CN" altLang="en-US"/>
              <a:t>While discrimination is not uniformly experienced, a subset of LGBTIQ+ individuals faces widespread and systemic mistreatment across different areas of life.</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captures self-reported experiences of violence against LGBTIQ+ individuals over the past five years. </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As shown in the bar chart, this variable is highly skewed,</a:t>
            </a:r>
            <a:endParaRPr lang="zh-CN" altLang="en-US"/>
          </a:p>
          <a:p>
            <a:r>
              <a:rPr lang="zh-CN" altLang="en-US"/>
              <a:t>To facilitate predictive modeling, we restructured this variable into a categorical format through feature engineering. Specifically, we grouped the responses into three categories</a:t>
            </a:r>
            <a:endParaRPr lang="zh-CN" altLang="en-US"/>
          </a:p>
          <a:p>
            <a:r>
              <a:rPr lang="zh-CN" altLang="en-US"/>
              <a:t>This transformation improves the balance of the variable but does not fully eliminate the issue of class imbalance.</a:t>
            </a:r>
            <a:endParaRPr lang="zh-CN" altLang="en-US"/>
          </a:p>
          <a:p>
            <a:r>
              <a:rPr lang="zh-CN" altLang="en-US"/>
              <a:t>In the next section, we will apply further data processing techniques to address this imbalance in model training.</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To predict experiences of violence, I framed the problem as a multi-class classification task."</a:t>
            </a:r>
            <a:endParaRPr lang="zh-CN" altLang="en-US"/>
          </a:p>
          <a:p>
            <a:endParaRPr lang="zh-CN" altLang="en-US"/>
          </a:p>
          <a:p>
            <a:r>
              <a:rPr lang="zh-CN" altLang="en-US"/>
              <a:t>"I tested two models:"</a:t>
            </a:r>
            <a:endParaRPr lang="zh-CN" altLang="en-US"/>
          </a:p>
          <a:p>
            <a:r>
              <a:rPr lang="zh-CN" altLang="en-US"/>
              <a:t>RF is highly effective at capturing complex, non-linear relationships between predictors </a:t>
            </a:r>
            <a:endParaRPr lang="zh-CN" altLang="en-US"/>
          </a:p>
          <a:p>
            <a:endParaRPr lang="zh-CN" altLang="en-US"/>
          </a:p>
          <a:p>
            <a:r>
              <a:rPr lang="zh-CN" altLang="en-US"/>
              <a:t>Unlike traditional decision trees, XGBoost refines its predictions iteratively, making it more effective at handling structured data. It is particularly well-suited for imbalanced datasets</a:t>
            </a:r>
            <a:endParaRPr lang="zh-CN" altLang="en-US"/>
          </a:p>
          <a:p>
            <a:endParaRPr lang="zh-CN" altLang="en-US"/>
          </a:p>
          <a:p>
            <a:r>
              <a:rPr lang="en-US" altLang="zh-CN">
                <a:sym typeface="+mn-ea"/>
              </a:rPr>
              <a:t>As last slides says, </a:t>
            </a:r>
            <a:r>
              <a:rPr lang="zh-CN" altLang="en-US">
                <a:sym typeface="+mn-ea"/>
              </a:rPr>
              <a:t>The distribution of violence severity in the training data shows a significant class imbalance</a:t>
            </a:r>
            <a:endParaRPr lang="zh-CN" altLang="en-US"/>
          </a:p>
          <a:p>
            <a:r>
              <a:rPr lang="zh-CN" altLang="en-US">
                <a:sym typeface="+mn-ea"/>
              </a:rPr>
              <a:t>To address this, we applied downsampling within the training data. </a:t>
            </a:r>
            <a:endParaRPr lang="zh-CN" altLang="en-US"/>
          </a:p>
          <a:p>
            <a:endParaRPr lang="zh-CN" altLang="en-US"/>
          </a:p>
          <a:p>
            <a:r>
              <a:rPr lang="zh-CN" altLang="en-US">
                <a:sym typeface="+mn-ea"/>
              </a:rPr>
              <a:t>we split the dataset into 70% training data and 30% test data.</a:t>
            </a:r>
            <a:endParaRPr lang="zh-CN" altLang="en-US"/>
          </a:p>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To optimize the performance of the Random Forest (RF) model, we conducted a hyperparameter tuning process by training multiple models with different numbers of decision trees, ranging from 50 to 1000</a:t>
            </a:r>
            <a:endParaRPr lang="zh-CN" altLang="en-US"/>
          </a:p>
          <a:p>
            <a:endParaRPr lang="zh-CN" altLang="en-US"/>
          </a:p>
          <a:p>
            <a:r>
              <a:rPr lang="zh-CN" altLang="en-US"/>
              <a:t>As shown in the OOB error curve gradually plateaus around 700 trees, indicating that adding more trees does not significantly improve the model’s performance. </a:t>
            </a:r>
            <a:endParaRPr lang="zh-CN" altLang="en-US"/>
          </a:p>
          <a:p>
            <a:endParaRPr lang="zh-CN" altLang="en-US"/>
          </a:p>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we selected 700 trees as the optimal number for our final RF model.</a:t>
            </a:r>
            <a:endParaRPr lang="zh-CN" altLang="en-US"/>
          </a:p>
          <a:p>
            <a:endParaRPr lang="zh-CN" altLang="en-US"/>
          </a:p>
          <a:p>
            <a:r>
              <a:rPr lang="zh-CN" altLang="en-US"/>
              <a:t>a moderate overall accuracy of 56.01%</a:t>
            </a:r>
            <a:endParaRPr lang="zh-CN" altLang="en-US"/>
          </a:p>
          <a:p>
            <a:endParaRPr lang="zh-CN" altLang="en-US"/>
          </a:p>
          <a:p>
            <a:r>
              <a:rPr lang="zh-CN" altLang="en-US"/>
              <a:t>The model demonstrates relatively strong performance in identifying cases where individuals never experienced violence,</a:t>
            </a:r>
            <a:r>
              <a:rPr lang="en-US" altLang="zh-CN"/>
              <a:t> However, detecting the mild and severe categories proves more challenging, with a sensitivity of 34.04% for mild cases and 56.64% for severe cases. </a:t>
            </a:r>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To optimize the XGBoost model, we set the maximum number of boosting rounds to 1000 and applied early stopping with a threshold of 50 rounds to prevent overfitting. Additionally, we performed five-fold cross-validation to ensure the model's performance was evaluated robustly across different training subsets.</a:t>
            </a:r>
            <a:endParaRPr lang="zh-CN" altLang="en-US"/>
          </a:p>
          <a:p>
            <a:endParaRPr lang="zh-CN" altLang="en-US"/>
          </a:p>
          <a:p>
            <a:r>
              <a:rPr lang="zh-CN" altLang="en-US"/>
              <a:t>The learning curve</a:t>
            </a:r>
            <a:r>
              <a:rPr lang="en-US" altLang="zh-CN"/>
              <a:t> </a:t>
            </a:r>
            <a:r>
              <a:rPr lang="zh-CN" altLang="en-US"/>
              <a:t>suggests that additional boosting beyond </a:t>
            </a:r>
            <a:r>
              <a:rPr lang="en-US" altLang="zh-CN"/>
              <a:t>167 rounds</a:t>
            </a:r>
            <a:r>
              <a:rPr lang="zh-CN" altLang="en-US"/>
              <a:t> does not improve generalization and may lead to overfitting.</a:t>
            </a:r>
            <a:endParaRPr lang="zh-CN" altLang="en-US"/>
          </a:p>
          <a:p>
            <a:endParaRPr lang="zh-CN" altLang="en-US"/>
          </a:p>
          <a:p>
            <a:r>
              <a:rPr lang="zh-CN" altLang="en-US"/>
              <a:t>Based on this, we selected the 167th boosting round as the optimal stopping point for the final model.</a:t>
            </a:r>
            <a:endParaRPr lang="zh-CN" altLang="en-US"/>
          </a:p>
          <a:p>
            <a:endParaRPr lang="zh-CN" altLang="en-US"/>
          </a:p>
          <a:p>
            <a:r>
              <a:rPr lang="zh-CN" altLang="en-US"/>
              <a:t>The confusion matrix and performance metrics for the XGBoost model on the test dataset indicate a slight improvement over the Random Forest model. The overall accuracy of XGBoost reached 56.99%</a:t>
            </a:r>
            <a:endParaRPr lang="zh-CN" altLang="en-US"/>
          </a:p>
          <a:p>
            <a:endParaRPr lang="zh-CN" altLang="en-US"/>
          </a:p>
          <a:p>
            <a:r>
              <a:rPr lang="zh-CN" altLang="en-US"/>
              <a:t>the model demonstrated better detection of severe cases, achieving a sensitivity of 59.12% compared to Random Forest’s 56.64%,</a:t>
            </a:r>
            <a:endParaRPr lang="zh-CN" altLang="en-US"/>
          </a:p>
          <a:p>
            <a:endParaRPr lang="zh-CN" altLang="en-US"/>
          </a:p>
          <a:p>
            <a:r>
              <a:rPr lang="zh-CN" altLang="en-US"/>
              <a:t>Given its overall better performance, we select XGBoost for further hyperparameter tuning to improve classification,</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"After hyperparameter tuning, XGBoost performed the best."</a:t>
            </a:r>
            <a:endParaRPr lang="zh-CN" altLang="en-US"/>
          </a:p>
          <a:p>
            <a:r>
              <a:rPr lang="zh-CN" altLang="en-US"/>
              <a:t>The overall accuracy increased to 57.78%</a:t>
            </a:r>
            <a:endParaRPr lang="zh-CN" altLang="en-US"/>
          </a:p>
          <a:p>
            <a:r>
              <a:rPr lang="zh-CN" altLang="en-US"/>
              <a:t>The model’s sensitivity improved across most categories, with the "Never" and "Severe" categories achieving higher detection rates, at 61.03% and 58.33%, respectively. The classification of "Mild" cases remains challenging, though specificity for this category increased slightly. </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We extracted the top 30 most important features used in the final XGBoost model. The results confirm that identity-related factors, including gender, sexual orientation, minority status, and economic level, are among the most significant predictors of violence experiences. </a:t>
            </a:r>
            <a:endParaRPr lang="zh-CN" altLang="en-US"/>
          </a:p>
          <a:p>
            <a:endParaRPr lang="en-US" altLang="zh-CN"/>
          </a:p>
          <a:p>
            <a:r>
              <a:rPr lang="en-US" altLang="zh-CN"/>
              <a:t>In addition to these expected predictors, the analysis also revealed  Location comfort Outness mean &amp; disclosure locations Health status: Country-level factors</a:t>
            </a:r>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a:p>
            <a:r>
              <a:rPr lang="zh-CN" altLang="en-US"/>
              <a:t>As identified in the exploratory data analysis (EDA), the discrimination variable is a right-skewed continuous variable. As this is a supervised regression problem, we choose the three models below.</a:t>
            </a:r>
            <a:endParaRPr lang="zh-CN" altLang="en-US"/>
          </a:p>
          <a:p>
            <a:endParaRPr lang="zh-CN" altLang="en-US"/>
          </a:p>
          <a:p>
            <a:r>
              <a:rPr lang="zh-CN" altLang="en-US"/>
              <a:t>Lasso Regression: Suitable for high-dimensional data and effective in feature selection by shrinking less relevant predictors to zero.</a:t>
            </a:r>
            <a:endParaRPr lang="zh-CN" altLang="en-US"/>
          </a:p>
          <a:p>
            <a:endParaRPr lang="zh-CN" altLang="en-US"/>
          </a:p>
          <a:p>
            <a:r>
              <a:rPr lang="zh-CN" altLang="en-US"/>
              <a:t>Random Forest: A non-parametric ensemble model capable of capturing non-linear relationships and complex interactions between predictors, </a:t>
            </a:r>
            <a:endParaRPr lang="zh-CN" altLang="en-US"/>
          </a:p>
          <a:p>
            <a:endParaRPr lang="zh-CN" altLang="en-US"/>
          </a:p>
          <a:p>
            <a:r>
              <a:rPr lang="zh-CN" altLang="en-US"/>
              <a:t>XGBoost</a:t>
            </a:r>
            <a:r>
              <a:rPr lang="en-US" altLang="zh-CN"/>
              <a:t> Its ability to handle imbalanced and non-linear relationships </a:t>
            </a:r>
            <a:endParaRPr lang="en-US" altLang="zh-CN"/>
          </a:p>
          <a:p>
            <a:endParaRPr lang="en-US" altLang="zh-CN"/>
          </a:p>
          <a:p>
            <a:r>
              <a:rPr lang="en-US" altLang="zh-CN"/>
              <a:t>To ensure consistency across models, we split the dataset into 70% training data and 30% test data. Since Lasso regression requires standardized input variables, we performed feature standardization on continuous predictors. </a:t>
            </a:r>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The Lasso model was trained using 10-fold cross-validation to determine the optimal lambda value, which was found to be approximately 0.0011. </a:t>
            </a:r>
            <a:endParaRPr lang="zh-CN" altLang="en-US"/>
          </a:p>
          <a:p>
            <a:endParaRPr lang="zh-CN" altLang="en-US"/>
          </a:p>
          <a:p>
            <a:r>
              <a:rPr lang="zh-CN" altLang="en-US"/>
              <a:t>In terms of performance, the model achieved an RMSE of 1.3641 and an MAE of 0.9582, suggesting moderate predictive accuracy. </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For the Random Forest model, we set the minimum node size to 5, which helps to balance model complexity and prevent overfitting while allowing sufficient depth for meaningful splits. </a:t>
            </a:r>
            <a:endParaRPr lang="zh-CN" altLang="en-US"/>
          </a:p>
          <a:p>
            <a:r>
              <a:rPr lang="en-US" altLang="zh-CN"/>
              <a:t>S</a:t>
            </a:r>
            <a:r>
              <a:rPr lang="zh-CN" altLang="en-US"/>
              <a:t>imilar to the previous section, we evaluated models with up to 1000 trees, increasing in increments of 50, to identify the point at which the out-of-bag (OOB) error stabilizes.</a:t>
            </a:r>
            <a:endParaRPr lang="zh-CN" altLang="en-US"/>
          </a:p>
          <a:p>
            <a:endParaRPr lang="zh-CN" altLang="en-US"/>
          </a:p>
          <a:p>
            <a:r>
              <a:rPr lang="zh-CN" altLang="en-US"/>
              <a:t>The final model achieved an RMSE of 1.3607, an MAE of 0.9508, and an R² of 0.24. These results indicate that while the model captures some variation in the discrimination variable, there is room for improvement in predictive power. </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For XGBoost, we fine-tuned hyperparameters using 5-fold cross-validation to determine the optimal number of boosting rounds. The model was trained with a learning rate of 0.05, a maximum depth of 6, and an early stopping criterion to prevent overfitting. </a:t>
            </a:r>
            <a:endParaRPr lang="zh-CN" altLang="en-US"/>
          </a:p>
          <a:p>
            <a:endParaRPr lang="zh-CN" altLang="en-US"/>
          </a:p>
          <a:p>
            <a:r>
              <a:rPr lang="zh-CN" altLang="en-US"/>
              <a:t>The RMSE of XGBoost is 1.3401, and the MAE is 0.9187, indicating better predictive accuracy. The R² value increased to 0.2629, suggesting that XGBoost captures a greater proportion of variance compared to Lasso. </a:t>
            </a: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Overall, since XGBoost consistently outperforms the other two models across key metrics, we select it for further hyperparameter tuning to enhance its predictive accuracy and generalization capability.</a:t>
            </a:r>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we performed hyperparameter tuning using a grid search approach.</a:t>
            </a:r>
            <a:endParaRPr lang="zh-CN" altLang="en-US"/>
          </a:p>
          <a:p>
            <a:endParaRPr lang="zh-CN" altLang="en-US"/>
          </a:p>
          <a:p>
            <a:r>
              <a:rPr lang="zh-CN" altLang="en-US"/>
              <a:t>and achieve the best model performance at 675 boosting rounds. The results of the tuned XGBoost model are as follows:</a:t>
            </a:r>
            <a:endParaRPr lang="zh-CN" altLang="en-US"/>
          </a:p>
          <a:p>
            <a:r>
              <a:rPr lang="zh-CN" altLang="en-US"/>
              <a:t>Best RMSE: 1.3369</a:t>
            </a:r>
            <a:endParaRPr lang="zh-CN" altLang="en-US"/>
          </a:p>
          <a:p>
            <a:r>
              <a:rPr lang="zh-CN" altLang="en-US"/>
              <a:t>Best MAE: 0.9185</a:t>
            </a:r>
            <a:endParaRPr lang="zh-CN" altLang="en-US"/>
          </a:p>
          <a:p>
            <a:r>
              <a:rPr lang="zh-CN" altLang="en-US"/>
              <a:t>Best R²: 0.2664</a:t>
            </a:r>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Following model tuning, we extracted feature importance rankings and identified the top 20 most influential predictors.</a:t>
            </a:r>
            <a:endParaRPr lang="zh-CN" altLang="en-US"/>
          </a:p>
          <a:p>
            <a:endParaRPr lang="zh-CN" altLang="en-US"/>
          </a:p>
          <a:p>
            <a:r>
              <a:rPr lang="zh-CN" altLang="en-US"/>
              <a:t>The results indicate that variables related to gender identity, sexual orientation, minority status, and economic conditions play a significant role in predicting the outcome, aligning with our initial hypothesis.</a:t>
            </a:r>
            <a:endParaRPr lang="zh-CN" altLang="en-US"/>
          </a:p>
          <a:p>
            <a:endParaRPr lang="zh-CN" altLang="en-US"/>
          </a:p>
          <a:p>
            <a:r>
              <a:rPr lang="zh-CN" altLang="en-US"/>
              <a:t>In addition to these expected predictors, the analysis also revealed several noteworthy influential features</a:t>
            </a:r>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To better address the research question, we utilized the test dataset to predict the level of violence and discrimination experienced by individuals of different gender identities and minority statuses. To ensure comparability, predictions were made while holding all other variables at their mean values.</a:t>
            </a:r>
            <a:endParaRPr lang="zh-CN" altLang="en-US"/>
          </a:p>
          <a:p>
            <a:endParaRPr lang="zh-CN" altLang="en-US"/>
          </a:p>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Similarly, we examined the impact of minority group status on experiences of violence and discrimination. </a:t>
            </a:r>
            <a:endParaRPr lang="zh-CN" altLang="en-US"/>
          </a:p>
          <a:p>
            <a:endParaRPr lang="zh-CN" altLang="en-US"/>
          </a:p>
          <a:p>
            <a:r>
              <a:rPr lang="zh-CN" altLang="en-US"/>
              <a:t>individuals who are refugees or belong to multiple minority categories experience a disproportionately high probability of severe violence</a:t>
            </a:r>
            <a:r>
              <a:rPr lang="en-US" altLang="zh-CN"/>
              <a:t> and discrimination</a:t>
            </a:r>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whereas those who report financial stability (“easily” or “very easily”) have the lowest probability</a:t>
            </a:r>
            <a:r>
              <a:rPr lang="en-US" altLang="zh-CN"/>
              <a:t> to face disc and violence</a:t>
            </a:r>
            <a:endParaRPr lang="en-US" altLang="zh-CN"/>
          </a:p>
          <a:p>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To better support policy improvements, we attempt to predict discrimination against lesbians in different countries. </a:t>
            </a:r>
            <a:endParaRPr lang="zh-CN" altLang="en-US"/>
          </a:p>
          <a:p>
            <a:endParaRPr lang="zh-CN" altLang="en-US"/>
          </a:p>
          <a:p>
            <a:r>
              <a:rPr lang="zh-CN" altLang="en-US"/>
              <a:t>The charts show that, countries with the highest predicted discrimination include Albania, Germany, Slovakia, and Poland, with Albania showing the most severe discrimination levels. Also, countries with the lowest predicted discrimination include Estonia, France, Belgium, and Sweden, with Estonia having the least discrimination.</a:t>
            </a:r>
            <a:endParaRPr lang="zh-CN" altLang="en-US"/>
          </a:p>
          <a:p>
            <a:endParaRPr lang="zh-CN" altLang="en-US"/>
          </a:p>
          <a:p>
            <a:r>
              <a:rPr lang="zh-CN" altLang="en-US"/>
              <a:t>These findings suggest substantial cross-national variation in the treatment of lesbians, likely influenced by differences in legal protections, cultural attitudes, and broader LGBTQ+ rights policies.</a:t>
            </a:r>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 Social Science Insights:</a:t>
            </a:r>
            <a:endParaRPr lang="zh-CN" altLang="en-US"/>
          </a:p>
          <a:p>
            <a:endParaRPr lang="zh-CN" altLang="en-US"/>
          </a:p>
          <a:p>
            <a:r>
              <a:rPr lang="zh-CN" altLang="en-US"/>
              <a:t>Trans, low-income, and multiply marginalized individuals faced the greatest risks.</a:t>
            </a:r>
            <a:endParaRPr lang="zh-CN" altLang="en-US"/>
          </a:p>
          <a:p>
            <a:r>
              <a:rPr lang="zh-CN" altLang="en-US"/>
              <a:t>Discrimination is not uniform—country policies and cultural factors matter.</a:t>
            </a:r>
            <a:endParaRPr lang="zh-CN" altLang="en-US"/>
          </a:p>
          <a:p>
            <a:endParaRPr lang="zh-CN" altLang="en-US"/>
          </a:p>
          <a:p>
            <a:r>
              <a:rPr lang="zh-CN" altLang="en-US"/>
              <a:t>Machine Learning Findings:</a:t>
            </a:r>
            <a:endParaRPr lang="zh-CN" altLang="en-US"/>
          </a:p>
          <a:p>
            <a:endParaRPr lang="zh-CN" altLang="en-US"/>
          </a:p>
          <a:p>
            <a:r>
              <a:rPr lang="zh-CN" altLang="en-US"/>
              <a:t>XGBoost outperformed other models in both violence and discrimination prediction.</a:t>
            </a:r>
            <a:endParaRPr lang="zh-CN" altLang="en-US"/>
          </a:p>
          <a:p>
            <a:r>
              <a:rPr lang="zh-CN" altLang="en-US"/>
              <a:t>Gender identity, economic status, and location comfort were the top predictors.</a:t>
            </a:r>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Intersectional policy interventions to protect vulnerable groups.</a:t>
            </a:r>
            <a:endParaRPr lang="zh-CN" altLang="en-US"/>
          </a:p>
          <a:p>
            <a:r>
              <a:rPr lang="zh-CN" altLang="en-US"/>
              <a:t>Better data representation for minority subgroups in predictive modeling.</a:t>
            </a:r>
            <a:endParaRPr lang="zh-CN" altLang="en-US"/>
          </a:p>
          <a:p>
            <a:r>
              <a:rPr lang="zh-CN" altLang="en-US"/>
              <a:t>Future research to track long-term discrimination trends using longitudinal data.*</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4400" b="0">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49" y="469127"/>
            <a:ext cx="10307927" cy="4093347"/>
          </a:xfrm>
        </p:spPr>
        <p:txBody>
          <a:bodyPr anchor="b">
            <a:normAutofit/>
          </a:bodyPr>
          <a:lstStyle>
            <a:lvl1pPr>
              <a:defRPr sz="6000">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10307926" cy="647555"/>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4400" b="0" i="0">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9788" y="1744961"/>
            <a:ext cx="5157787"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400" b="0">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3200" b="0">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4400"/>
            </a:lvl1pPr>
          </a:lstStyle>
          <a:p>
            <a:r>
              <a:rPr lang="zh-CN" altLang="en-US" dirty="0"/>
              <a:t>单击此处编辑母版标题样式</a:t>
            </a:r>
            <a:endParaRPr lang="zh-CN" altLang="en-US" dirty="0"/>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image" Target="../media/image1.pn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1"/>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tags" Target="../tags/tag5.xml"/><Relationship Id="rId2" Type="http://schemas.openxmlformats.org/officeDocument/2006/relationships/image" Target="../media/image3.png"/><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2.xml"/><Relationship Id="rId3" Type="http://schemas.openxmlformats.org/officeDocument/2006/relationships/tags" Target="../tags/tag7.xml"/><Relationship Id="rId2" Type="http://schemas.openxmlformats.org/officeDocument/2006/relationships/image" Target="../media/image5.png"/><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tags" Target="../tags/tag8.xml"/></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2.xml"/><Relationship Id="rId5" Type="http://schemas.openxmlformats.org/officeDocument/2006/relationships/tags" Target="../tags/tag12.xml"/><Relationship Id="rId4" Type="http://schemas.openxmlformats.org/officeDocument/2006/relationships/image" Target="../media/image7.png"/><Relationship Id="rId3" Type="http://schemas.openxmlformats.org/officeDocument/2006/relationships/tags" Target="../tags/tag11.xml"/><Relationship Id="rId2" Type="http://schemas.openxmlformats.org/officeDocument/2006/relationships/image" Target="../media/image6.png"/><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image" Target="../media/image10.png"/><Relationship Id="rId3" Type="http://schemas.openxmlformats.org/officeDocument/2006/relationships/tags" Target="../tags/tag15.xml"/><Relationship Id="rId2" Type="http://schemas.openxmlformats.org/officeDocument/2006/relationships/image" Target="../media/image9.png"/><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tags" Target="../tags/tag18.xml"/><Relationship Id="rId4" Type="http://schemas.openxmlformats.org/officeDocument/2006/relationships/image" Target="../media/image12.png"/><Relationship Id="rId3" Type="http://schemas.openxmlformats.org/officeDocument/2006/relationships/tags" Target="../tags/tag17.xml"/><Relationship Id="rId2" Type="http://schemas.openxmlformats.org/officeDocument/2006/relationships/image" Target="../media/image11.png"/><Relationship Id="rId1" Type="http://schemas.openxmlformats.org/officeDocument/2006/relationships/tags" Target="../tags/tag16.xml"/></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7.png"/><Relationship Id="rId7" Type="http://schemas.openxmlformats.org/officeDocument/2006/relationships/tags" Target="../tags/tag22.xml"/><Relationship Id="rId6" Type="http://schemas.openxmlformats.org/officeDocument/2006/relationships/image" Target="../media/image16.png"/><Relationship Id="rId5" Type="http://schemas.openxmlformats.org/officeDocument/2006/relationships/tags" Target="../tags/tag21.xml"/><Relationship Id="rId4" Type="http://schemas.openxmlformats.org/officeDocument/2006/relationships/image" Target="../media/image15.png"/><Relationship Id="rId3" Type="http://schemas.openxmlformats.org/officeDocument/2006/relationships/tags" Target="../tags/tag20.xml"/><Relationship Id="rId2" Type="http://schemas.openxmlformats.org/officeDocument/2006/relationships/image" Target="../media/image14.png"/><Relationship Id="rId10" Type="http://schemas.openxmlformats.org/officeDocument/2006/relationships/notesSlide" Target="../notesSlides/notesSlide15.xml"/><Relationship Id="rId1" Type="http://schemas.openxmlformats.org/officeDocument/2006/relationships/tags" Target="../tags/tag19.xml"/></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tags" Target="../tags/tag25.xml"/><Relationship Id="rId4" Type="http://schemas.openxmlformats.org/officeDocument/2006/relationships/image" Target="../media/image19.png"/><Relationship Id="rId3" Type="http://schemas.openxmlformats.org/officeDocument/2006/relationships/tags" Target="../tags/tag24.xml"/><Relationship Id="rId2" Type="http://schemas.openxmlformats.org/officeDocument/2006/relationships/image" Target="../media/image18.png"/><Relationship Id="rId1" Type="http://schemas.openxmlformats.org/officeDocument/2006/relationships/tags" Target="../tags/tag23.xml"/></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tags" Target="../tags/tag28.xml"/><Relationship Id="rId4" Type="http://schemas.openxmlformats.org/officeDocument/2006/relationships/image" Target="../media/image22.png"/><Relationship Id="rId3" Type="http://schemas.openxmlformats.org/officeDocument/2006/relationships/tags" Target="../tags/tag27.xml"/><Relationship Id="rId2" Type="http://schemas.openxmlformats.org/officeDocument/2006/relationships/image" Target="../media/image21.png"/><Relationship Id="rId1" Type="http://schemas.openxmlformats.org/officeDocument/2006/relationships/tags" Target="../tags/tag2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tags" Target="../tags/tag31.xml"/><Relationship Id="rId4" Type="http://schemas.openxmlformats.org/officeDocument/2006/relationships/image" Target="../media/image25.png"/><Relationship Id="rId3" Type="http://schemas.openxmlformats.org/officeDocument/2006/relationships/tags" Target="../tags/tag30.xml"/><Relationship Id="rId2" Type="http://schemas.openxmlformats.org/officeDocument/2006/relationships/image" Target="../media/image24.png"/><Relationship Id="rId1" Type="http://schemas.openxmlformats.org/officeDocument/2006/relationships/tags" Target="../tags/tag29.xml"/></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20.xml"/><Relationship Id="rId7"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tags" Target="../tags/tag34.xml"/><Relationship Id="rId4" Type="http://schemas.openxmlformats.org/officeDocument/2006/relationships/image" Target="../media/image28.png"/><Relationship Id="rId3" Type="http://schemas.openxmlformats.org/officeDocument/2006/relationships/tags" Target="../tags/tag33.xml"/><Relationship Id="rId2" Type="http://schemas.openxmlformats.org/officeDocument/2006/relationships/image" Target="../media/image27.png"/><Relationship Id="rId1" Type="http://schemas.openxmlformats.org/officeDocument/2006/relationships/tags" Target="../tags/tag32.xml"/></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tags" Target="../tags/tag37.xml"/><Relationship Id="rId4" Type="http://schemas.openxmlformats.org/officeDocument/2006/relationships/image" Target="../media/image31.png"/><Relationship Id="rId3" Type="http://schemas.openxmlformats.org/officeDocument/2006/relationships/tags" Target="../tags/tag36.xml"/><Relationship Id="rId2" Type="http://schemas.openxmlformats.org/officeDocument/2006/relationships/image" Target="../media/image30.png"/><Relationship Id="rId1" Type="http://schemas.openxmlformats.org/officeDocument/2006/relationships/tags" Target="../tags/tag35.xml"/></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2.xml"/><Relationship Id="rId4" Type="http://schemas.openxmlformats.org/officeDocument/2006/relationships/image" Target="../media/image34.png"/><Relationship Id="rId3" Type="http://schemas.openxmlformats.org/officeDocument/2006/relationships/tags" Target="../tags/tag39.xml"/><Relationship Id="rId2" Type="http://schemas.openxmlformats.org/officeDocument/2006/relationships/image" Target="../media/image33.png"/><Relationship Id="rId1" Type="http://schemas.openxmlformats.org/officeDocument/2006/relationships/tags" Target="../tags/tag38.xml"/></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2.xml"/><Relationship Id="rId4" Type="http://schemas.openxmlformats.org/officeDocument/2006/relationships/image" Target="../media/image36.png"/><Relationship Id="rId3" Type="http://schemas.openxmlformats.org/officeDocument/2006/relationships/tags" Target="../tags/tag41.xml"/><Relationship Id="rId2" Type="http://schemas.openxmlformats.org/officeDocument/2006/relationships/image" Target="../media/image35.png"/><Relationship Id="rId1" Type="http://schemas.openxmlformats.org/officeDocument/2006/relationships/tags" Target="../tags/tag40.xml"/></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2.xml"/><Relationship Id="rId4" Type="http://schemas.openxmlformats.org/officeDocument/2006/relationships/image" Target="../media/image38.png"/><Relationship Id="rId3" Type="http://schemas.openxmlformats.org/officeDocument/2006/relationships/tags" Target="../tags/tag43.xml"/><Relationship Id="rId2" Type="http://schemas.openxmlformats.org/officeDocument/2006/relationships/image" Target="../media/image37.png"/><Relationship Id="rId1" Type="http://schemas.openxmlformats.org/officeDocument/2006/relationships/tags" Target="../tags/tag42.xml"/></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2.xml"/><Relationship Id="rId4" Type="http://schemas.openxmlformats.org/officeDocument/2006/relationships/image" Target="../media/image40.png"/><Relationship Id="rId3" Type="http://schemas.openxmlformats.org/officeDocument/2006/relationships/tags" Target="../tags/tag45.xml"/><Relationship Id="rId2" Type="http://schemas.openxmlformats.org/officeDocument/2006/relationships/image" Target="../media/image39.png"/><Relationship Id="rId1" Type="http://schemas.openxmlformats.org/officeDocument/2006/relationships/tags" Target="../tags/tag44.xml"/></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slideLayout" Target="../slideLayouts/slideLayout2.xml"/><Relationship Id="rId4" Type="http://schemas.openxmlformats.org/officeDocument/2006/relationships/image" Target="../media/image42.png"/><Relationship Id="rId3" Type="http://schemas.openxmlformats.org/officeDocument/2006/relationships/tags" Target="../tags/tag47.xml"/><Relationship Id="rId2" Type="http://schemas.openxmlformats.org/officeDocument/2006/relationships/image" Target="../media/image41.png"/><Relationship Id="rId1" Type="http://schemas.openxmlformats.org/officeDocument/2006/relationships/tags" Target="../tags/tag46.xml"/></Relationships>
</file>

<file path=ppt/slides/_rels/slide27.xml.rels><?xml version="1.0" encoding="UTF-8" standalone="yes"?>
<Relationships xmlns="http://schemas.openxmlformats.org/package/2006/relationships"><Relationship Id="rId6" Type="http://schemas.openxmlformats.org/officeDocument/2006/relationships/notesSlide" Target="../notesSlides/notesSlide27.xml"/><Relationship Id="rId5" Type="http://schemas.openxmlformats.org/officeDocument/2006/relationships/slideLayout" Target="../slideLayouts/slideLayout2.xml"/><Relationship Id="rId4" Type="http://schemas.openxmlformats.org/officeDocument/2006/relationships/image" Target="../media/image44.png"/><Relationship Id="rId3" Type="http://schemas.openxmlformats.org/officeDocument/2006/relationships/tags" Target="../tags/tag49.xml"/><Relationship Id="rId2" Type="http://schemas.openxmlformats.org/officeDocument/2006/relationships/image" Target="../media/image43.png"/><Relationship Id="rId1" Type="http://schemas.openxmlformats.org/officeDocument/2006/relationships/tags" Target="../tags/tag48.xml"/></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2.xml"/><Relationship Id="rId4" Type="http://schemas.openxmlformats.org/officeDocument/2006/relationships/image" Target="../media/image46.png"/><Relationship Id="rId3" Type="http://schemas.openxmlformats.org/officeDocument/2006/relationships/tags" Target="../tags/tag51.xml"/><Relationship Id="rId2" Type="http://schemas.openxmlformats.org/officeDocument/2006/relationships/image" Target="../media/image45.png"/><Relationship Id="rId1" Type="http://schemas.openxmlformats.org/officeDocument/2006/relationships/tags" Target="../tags/tag5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297940" y="2599055"/>
            <a:ext cx="9370695" cy="2186940"/>
          </a:xfrm>
        </p:spPr>
        <p:txBody>
          <a:bodyPr>
            <a:noAutofit/>
            <a:scene3d>
              <a:camera prst="orthographicFront"/>
              <a:lightRig rig="threePt" dir="t"/>
            </a:scene3d>
          </a:bodyPr>
          <a:lstStyle/>
          <a:p>
            <a:r>
              <a:rPr lang="zh-CN" altLang="en-US" sz="4800" b="1" dirty="0">
                <a:ln/>
                <a:solidFill>
                  <a:schemeClr val="tx1"/>
                </a:solidFill>
                <a:effectLst>
                  <a:outerShdw blurRad="38100" dist="19050" dir="2700000" algn="tl" rotWithShape="0">
                    <a:schemeClr val="dk1">
                      <a:alpha val="40000"/>
                      <a:alpha val="40000"/>
                    </a:schemeClr>
                  </a:outerShdw>
                </a:effectLst>
                <a:cs typeface="+mj-lt"/>
              </a:rPr>
              <a:t>Unpacking Identity Vulnerability: </a:t>
            </a:r>
            <a:br>
              <a:rPr lang="zh-CN" altLang="en-US" sz="4400" dirty="0">
                <a:ln/>
                <a:solidFill>
                  <a:schemeClr val="tx1"/>
                </a:solidFill>
                <a:effectLst>
                  <a:outerShdw blurRad="38100" dist="19050" dir="2700000" algn="tl" rotWithShape="0">
                    <a:schemeClr val="dk1">
                      <a:alpha val="40000"/>
                      <a:alpha val="40000"/>
                    </a:schemeClr>
                  </a:outerShdw>
                </a:effectLst>
                <a:cs typeface="+mj-lt"/>
              </a:rPr>
            </a:br>
            <a:r>
              <a:rPr lang="zh-CN" altLang="en-US" sz="4000" dirty="0">
                <a:ln/>
                <a:solidFill>
                  <a:schemeClr val="tx1"/>
                </a:solidFill>
                <a:effectLst>
                  <a:outerShdw blurRad="38100" dist="19050" dir="2700000" algn="tl" rotWithShape="0">
                    <a:schemeClr val="dk1">
                      <a:alpha val="40000"/>
                      <a:alpha val="40000"/>
                    </a:schemeClr>
                  </a:outerShdw>
                </a:effectLst>
                <a:cs typeface="+mj-lt"/>
              </a:rPr>
              <a:t>Predicting Discrimination and Violence against LGBTIQ+ Individuals</a:t>
            </a:r>
            <a:endParaRPr lang="zh-CN" altLang="en-US" sz="4000" dirty="0">
              <a:ln/>
              <a:solidFill>
                <a:schemeClr val="tx1"/>
              </a:solidFill>
              <a:effectLst>
                <a:outerShdw blurRad="38100" dist="19050" dir="2700000" algn="tl" rotWithShape="0">
                  <a:schemeClr val="dk1">
                    <a:alpha val="40000"/>
                    <a:alpha val="40000"/>
                  </a:schemeClr>
                </a:outerShdw>
              </a:effectLst>
              <a:cs typeface="+mj-lt"/>
            </a:endParaRPr>
          </a:p>
        </p:txBody>
      </p:sp>
      <p:sp>
        <p:nvSpPr>
          <p:cNvPr id="5" name="副标题 4"/>
          <p:cNvSpPr>
            <a:spLocks noGrp="1"/>
          </p:cNvSpPr>
          <p:nvPr>
            <p:ph type="subTitle" idx="1"/>
          </p:nvPr>
        </p:nvSpPr>
        <p:spPr>
          <a:xfrm>
            <a:off x="1410970" y="5335270"/>
            <a:ext cx="9144000" cy="539115"/>
          </a:xfrm>
        </p:spPr>
        <p:txBody>
          <a:bodyPr/>
          <a:lstStyle/>
          <a:p>
            <a:r>
              <a:rPr lang="en-US" altLang="zh-CN" dirty="0">
                <a:solidFill>
                  <a:schemeClr val="tx1">
                    <a:lumMod val="95000"/>
                    <a:lumOff val="5000"/>
                  </a:schemeClr>
                </a:solidFill>
                <a:latin typeface="+mn-lt"/>
              </a:rPr>
              <a:t>Wendi Xue</a:t>
            </a:r>
            <a:endParaRPr lang="en-US" altLang="zh-CN" dirty="0">
              <a:solidFill>
                <a:schemeClr val="tx1">
                  <a:lumMod val="95000"/>
                  <a:lumOff val="5000"/>
                </a:schemeClr>
              </a:solidFill>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47700" y="635000"/>
            <a:ext cx="10515600" cy="1325563"/>
          </a:xfrm>
        </p:spPr>
        <p:txBody>
          <a:bodyPr/>
          <a:p>
            <a:r>
              <a:rPr lang="en-US" altLang="zh-CN" b="1"/>
              <a:t>Research Question</a:t>
            </a:r>
            <a:endParaRPr lang="en-US" altLang="zh-CN" b="1"/>
          </a:p>
        </p:txBody>
      </p:sp>
      <p:sp>
        <p:nvSpPr>
          <p:cNvPr id="3" name="内容占位符 2"/>
          <p:cNvSpPr>
            <a:spLocks noGrp="1"/>
          </p:cNvSpPr>
          <p:nvPr>
            <p:ph idx="1"/>
          </p:nvPr>
        </p:nvSpPr>
        <p:spPr>
          <a:xfrm>
            <a:off x="748030" y="2171065"/>
            <a:ext cx="10515600" cy="4351338"/>
          </a:xfrm>
        </p:spPr>
        <p:txBody>
          <a:bodyPr/>
          <a:p>
            <a:r>
              <a:rPr lang="zh-CN" altLang="en-US" sz="3200"/>
              <a:t>How do </a:t>
            </a:r>
            <a:r>
              <a:rPr lang="zh-CN" altLang="en-US" sz="3200" b="1">
                <a:solidFill>
                  <a:srgbClr val="C00000"/>
                </a:solidFill>
              </a:rPr>
              <a:t>gender identity, economic status, and minority identity</a:t>
            </a:r>
            <a:r>
              <a:rPr lang="zh-CN" altLang="en-US" sz="3200"/>
              <a:t> influence the likelihood of experiencing </a:t>
            </a:r>
            <a:r>
              <a:rPr lang="zh-CN" altLang="en-US" sz="3200" b="1">
                <a:solidFill>
                  <a:srgbClr val="C00000"/>
                </a:solidFill>
              </a:rPr>
              <a:t>discrimination and violence</a:t>
            </a:r>
            <a:r>
              <a:rPr lang="zh-CN" altLang="en-US" sz="3200"/>
              <a:t> among LGBTIQ+ individuals?</a:t>
            </a:r>
            <a:endParaRPr lang="zh-CN" altLang="en-US" sz="3200"/>
          </a:p>
          <a:p>
            <a:endParaRPr lang="zh-CN" altLang="en-US" sz="3200"/>
          </a:p>
          <a:p>
            <a:r>
              <a:rPr lang="zh-CN" altLang="en-US" sz="3200"/>
              <a:t>Which social factors play the </a:t>
            </a:r>
            <a:r>
              <a:rPr lang="zh-CN" altLang="en-US" sz="3200" b="1">
                <a:solidFill>
                  <a:srgbClr val="C00000"/>
                </a:solidFill>
              </a:rPr>
              <a:t>most significant</a:t>
            </a:r>
            <a:r>
              <a:rPr lang="zh-CN" altLang="en-US" sz="3200"/>
              <a:t> role in </a:t>
            </a:r>
            <a:r>
              <a:rPr lang="zh-CN" altLang="en-US" sz="3200" b="1">
                <a:solidFill>
                  <a:srgbClr val="C00000"/>
                </a:solidFill>
              </a:rPr>
              <a:t>predicting </a:t>
            </a:r>
            <a:r>
              <a:rPr lang="zh-CN" altLang="en-US" sz="3200"/>
              <a:t>discrimination and violence levels?</a:t>
            </a:r>
            <a:endParaRPr lang="zh-CN" altLang="en-US" sz="3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47700" y="558800"/>
            <a:ext cx="10515600" cy="1025525"/>
          </a:xfrm>
        </p:spPr>
        <p:txBody>
          <a:bodyPr/>
          <a:p>
            <a:r>
              <a:rPr lang="en-US" altLang="zh-CN" b="1"/>
              <a:t>Hypohesis</a:t>
            </a:r>
            <a:endParaRPr lang="en-US" altLang="zh-CN" b="1"/>
          </a:p>
        </p:txBody>
      </p:sp>
      <p:sp>
        <p:nvSpPr>
          <p:cNvPr id="5" name="文本框 4"/>
          <p:cNvSpPr txBox="1"/>
          <p:nvPr/>
        </p:nvSpPr>
        <p:spPr>
          <a:xfrm>
            <a:off x="1014730" y="1861820"/>
            <a:ext cx="10516235" cy="3559175"/>
          </a:xfrm>
          <a:prstGeom prst="rect">
            <a:avLst/>
          </a:prstGeom>
          <a:noFill/>
        </p:spPr>
        <p:txBody>
          <a:bodyPr wrap="square" rtlCol="0" anchor="t">
            <a:noAutofit/>
          </a:bodyPr>
          <a:p>
            <a:pPr indent="0">
              <a:lnSpc>
                <a:spcPct val="150000"/>
              </a:lnSpc>
              <a:buFont typeface="Wingdings" panose="05000000000000000000" charset="0"/>
              <a:buNone/>
            </a:pPr>
            <a:r>
              <a:rPr lang="zh-CN" altLang="en-US" sz="3200">
                <a:cs typeface="+mn-lt"/>
              </a:rPr>
              <a:t>Who is most vulnerable to discrimination and violence?</a:t>
            </a:r>
            <a:endParaRPr lang="zh-CN" altLang="en-US" sz="3200">
              <a:cs typeface="+mn-lt"/>
            </a:endParaRPr>
          </a:p>
          <a:p>
            <a:pPr marL="285750" indent="-285750">
              <a:lnSpc>
                <a:spcPct val="150000"/>
              </a:lnSpc>
              <a:buFont typeface="Wingdings" panose="05000000000000000000" charset="0"/>
              <a:buChar char=""/>
            </a:pPr>
            <a:endParaRPr lang="zh-CN" altLang="en-US" sz="3200">
              <a:cs typeface="+mn-lt"/>
            </a:endParaRPr>
          </a:p>
          <a:p>
            <a:pPr marL="742950" lvl="1" indent="-285750">
              <a:lnSpc>
                <a:spcPct val="150000"/>
              </a:lnSpc>
              <a:buFont typeface="Wingdings" panose="05000000000000000000" charset="0"/>
              <a:buChar char=""/>
            </a:pPr>
            <a:r>
              <a:rPr lang="zh-CN" altLang="en-US" sz="2800">
                <a:cs typeface="+mn-lt"/>
              </a:rPr>
              <a:t>🌈 Transgender / Non-binary individuals</a:t>
            </a:r>
            <a:endParaRPr lang="zh-CN" altLang="en-US" sz="2800">
              <a:cs typeface="+mn-lt"/>
            </a:endParaRPr>
          </a:p>
          <a:p>
            <a:pPr marL="742950" lvl="1" indent="-285750">
              <a:lnSpc>
                <a:spcPct val="150000"/>
              </a:lnSpc>
              <a:buFont typeface="Wingdings" panose="05000000000000000000" charset="0"/>
              <a:buChar char=""/>
            </a:pPr>
            <a:r>
              <a:rPr lang="zh-CN" altLang="en-US" sz="2800">
                <a:cs typeface="+mn-lt"/>
              </a:rPr>
              <a:t>💰❌ Low-income individuals</a:t>
            </a:r>
            <a:endParaRPr lang="zh-CN" altLang="en-US" sz="2800">
              <a:cs typeface="+mn-lt"/>
            </a:endParaRPr>
          </a:p>
          <a:p>
            <a:pPr marL="742950" lvl="1" indent="-285750">
              <a:lnSpc>
                <a:spcPct val="150000"/>
              </a:lnSpc>
              <a:buFont typeface="Wingdings" panose="05000000000000000000" charset="0"/>
              <a:buChar char=""/>
            </a:pPr>
            <a:r>
              <a:rPr lang="zh-CN" altLang="en-US" sz="2800">
                <a:cs typeface="+mn-lt"/>
              </a:rPr>
              <a:t>⚠️ Multiply marginalized groups</a:t>
            </a:r>
            <a:endParaRPr lang="zh-CN" altLang="en-US" sz="2800">
              <a:cs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47370" y="471170"/>
            <a:ext cx="10515600" cy="1325563"/>
          </a:xfrm>
        </p:spPr>
        <p:txBody>
          <a:bodyPr/>
          <a:p>
            <a:r>
              <a:rPr lang="en-US" altLang="zh-CN" b="1"/>
              <a:t>Introduction of Dataset</a:t>
            </a:r>
            <a:endParaRPr lang="en-US" altLang="zh-CN" b="1"/>
          </a:p>
        </p:txBody>
      </p:sp>
      <p:sp>
        <p:nvSpPr>
          <p:cNvPr id="3" name="内容占位符 2"/>
          <p:cNvSpPr>
            <a:spLocks noGrp="1"/>
          </p:cNvSpPr>
          <p:nvPr>
            <p:ph idx="1"/>
          </p:nvPr>
        </p:nvSpPr>
        <p:spPr>
          <a:xfrm>
            <a:off x="1213485" y="2123440"/>
            <a:ext cx="9765030" cy="5256530"/>
          </a:xfrm>
        </p:spPr>
        <p:txBody>
          <a:bodyPr>
            <a:normAutofit/>
          </a:bodyPr>
          <a:p>
            <a:r>
              <a:rPr lang="zh-CN" altLang="en-US" sz="3600" b="1">
                <a:solidFill>
                  <a:schemeClr val="tx1">
                    <a:lumMod val="95000"/>
                    <a:lumOff val="5000"/>
                  </a:schemeClr>
                </a:solidFill>
              </a:rPr>
              <a:t>EU LGBTIQ Survey III (2023)</a:t>
            </a:r>
            <a:endParaRPr lang="zh-CN" altLang="en-US" sz="3600" b="1">
              <a:solidFill>
                <a:schemeClr val="tx1">
                  <a:lumMod val="95000"/>
                  <a:lumOff val="5000"/>
                </a:schemeClr>
              </a:solidFill>
            </a:endParaRPr>
          </a:p>
          <a:p>
            <a:pPr lvl="1"/>
            <a:r>
              <a:rPr lang="zh-CN" altLang="en-US" sz="2740">
                <a:solidFill>
                  <a:schemeClr val="tx1">
                    <a:lumMod val="95000"/>
                    <a:lumOff val="5000"/>
                  </a:schemeClr>
                </a:solidFill>
              </a:rPr>
              <a:t>a large-scale cross-sectional survey conducted by the European Union Agency for Fundamental Rights (FRA)</a:t>
            </a:r>
            <a:endParaRPr lang="zh-CN" altLang="en-US" sz="2740">
              <a:solidFill>
                <a:schemeClr val="tx1">
                  <a:lumMod val="95000"/>
                  <a:lumOff val="5000"/>
                </a:schemeClr>
              </a:solidFill>
            </a:endParaRPr>
          </a:p>
          <a:p>
            <a:pPr lvl="1"/>
            <a:endParaRPr lang="zh-CN" altLang="en-US" sz="2740" b="1">
              <a:solidFill>
                <a:schemeClr val="tx1">
                  <a:lumMod val="95000"/>
                  <a:lumOff val="5000"/>
                </a:schemeClr>
              </a:solidFill>
            </a:endParaRPr>
          </a:p>
          <a:p>
            <a:pPr lvl="1"/>
            <a:endParaRPr lang="zh-CN" altLang="en-US" sz="2740" b="1">
              <a:solidFill>
                <a:schemeClr val="tx1">
                  <a:lumMod val="95000"/>
                  <a:lumOff val="5000"/>
                </a:schemeClr>
              </a:solidFill>
            </a:endParaRPr>
          </a:p>
          <a:p>
            <a:pPr lvl="0"/>
            <a:r>
              <a:rPr lang="zh-CN" altLang="en-US" sz="3600" b="1">
                <a:solidFill>
                  <a:schemeClr val="tx1">
                    <a:lumMod val="95000"/>
                    <a:lumOff val="5000"/>
                  </a:schemeClr>
                </a:solidFill>
              </a:rPr>
              <a:t>Number of Respondents (Units of Analysis)</a:t>
            </a:r>
            <a:r>
              <a:rPr lang="zh-CN" altLang="en-US" sz="3600">
                <a:solidFill>
                  <a:schemeClr val="tx1">
                    <a:lumMod val="95000"/>
                    <a:lumOff val="5000"/>
                  </a:schemeClr>
                </a:solidFill>
              </a:rPr>
              <a:t>:</a:t>
            </a:r>
            <a:r>
              <a:rPr lang="zh-CN" altLang="en-US" sz="3730">
                <a:solidFill>
                  <a:schemeClr val="tx1">
                    <a:lumMod val="95000"/>
                    <a:lumOff val="5000"/>
                  </a:schemeClr>
                </a:solidFill>
              </a:rPr>
              <a:t> 100,577 individuals</a:t>
            </a:r>
            <a:endParaRPr lang="zh-CN" altLang="en-US" sz="3730">
              <a:solidFill>
                <a:schemeClr val="tx1">
                  <a:lumMod val="95000"/>
                  <a:lumOff val="5000"/>
                </a:schemeClr>
              </a:solidFill>
            </a:endParaRPr>
          </a:p>
          <a:p>
            <a:endParaRPr lang="zh-CN" altLang="en-US" sz="3730">
              <a:solidFill>
                <a:schemeClr val="tx1">
                  <a:lumMod val="95000"/>
                  <a:lumOff val="5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47700" y="421640"/>
            <a:ext cx="10515600" cy="1325563"/>
          </a:xfrm>
        </p:spPr>
        <p:txBody>
          <a:bodyPr/>
          <a:p>
            <a:r>
              <a:rPr lang="en-US" altLang="zh-CN" b="1"/>
              <a:t>C</a:t>
            </a:r>
            <a:r>
              <a:rPr lang="en-US" altLang="zh-CN" b="1"/>
              <a:t>ore Independent Variable</a:t>
            </a:r>
            <a:r>
              <a:rPr lang="en-US" altLang="zh-CN" b="1"/>
              <a:t>s</a:t>
            </a:r>
            <a:endParaRPr lang="en-US" altLang="zh-CN" b="1"/>
          </a:p>
        </p:txBody>
      </p:sp>
      <p:graphicFrame>
        <p:nvGraphicFramePr>
          <p:cNvPr id="5" name="表格 4"/>
          <p:cNvGraphicFramePr/>
          <p:nvPr>
            <p:custDataLst>
              <p:tags r:id="rId1"/>
            </p:custDataLst>
          </p:nvPr>
        </p:nvGraphicFramePr>
        <p:xfrm>
          <a:off x="887095" y="1885950"/>
          <a:ext cx="4979035" cy="4119245"/>
        </p:xfrm>
        <a:graphic>
          <a:graphicData uri="http://schemas.openxmlformats.org/drawingml/2006/table">
            <a:tbl>
              <a:tblPr/>
              <a:tblGrid>
                <a:gridCol w="1136015"/>
                <a:gridCol w="2618740"/>
                <a:gridCol w="1224280"/>
              </a:tblGrid>
              <a:tr h="316865">
                <a:tc>
                  <a:txBody>
                    <a:bodyPr/>
                    <a:p>
                      <a:pPr indent="0" algn="ctr">
                        <a:buNone/>
                      </a:pPr>
                      <a:r>
                        <a:rPr lang="en-US" sz="1200" b="1">
                          <a:solidFill>
                            <a:srgbClr val="000000"/>
                          </a:solidFill>
                          <a:latin typeface="Calibri" charset="0"/>
                          <a:cs typeface="Calibri" charset="0"/>
                        </a:rPr>
                        <a:t>Variable</a:t>
                      </a:r>
                      <a:endParaRPr lang="en-US" altLang="en-US" sz="1200" b="1">
                        <a:solidFill>
                          <a:srgbClr val="000000"/>
                        </a:solidFill>
                        <a:latin typeface="Calibri" charset="0"/>
                        <a:ea typeface="Calibri" charset="0"/>
                        <a:cs typeface="Calibri" charset="0"/>
                      </a:endParaRPr>
                    </a:p>
                  </a:txBody>
                  <a:tcPr marL="68580" marR="68580" marT="0" marB="0" vert="horz" anchor="ctr" anchorCtr="0">
                    <a:lnL>
                      <a:noFill/>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1">
                          <a:solidFill>
                            <a:srgbClr val="000000"/>
                          </a:solidFill>
                          <a:latin typeface="Calibri" charset="0"/>
                          <a:cs typeface="Calibri" charset="0"/>
                        </a:rPr>
                        <a:t>Category</a:t>
                      </a:r>
                      <a:endParaRPr lang="en-US" altLang="en-US" sz="1200" b="1">
                        <a:solidFill>
                          <a:srgbClr val="000000"/>
                        </a:solidFill>
                        <a:latin typeface="Calibri" charset="0"/>
                        <a:ea typeface="Calibri" charset="0"/>
                        <a:cs typeface="Calibri" charset="0"/>
                      </a:endParaRPr>
                    </a:p>
                  </a:txBody>
                  <a:tcPr marL="68580" marR="68580" marT="0" marB="0" vert="horz" anchor="ctr" anchorCtr="0">
                    <a:lnL>
                      <a:noFill/>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1">
                          <a:solidFill>
                            <a:srgbClr val="000000"/>
                          </a:solidFill>
                          <a:latin typeface="Calibri" charset="0"/>
                          <a:cs typeface="Calibri" charset="0"/>
                        </a:rPr>
                        <a:t>Count</a:t>
                      </a:r>
                      <a:endParaRPr lang="en-US" altLang="en-US" sz="1200" b="1">
                        <a:solidFill>
                          <a:srgbClr val="000000"/>
                        </a:solidFill>
                        <a:latin typeface="Calibri" charset="0"/>
                        <a:ea typeface="Calibri" charset="0"/>
                        <a:cs typeface="Calibri" charset="0"/>
                      </a:endParaRPr>
                    </a:p>
                  </a:txBody>
                  <a:tcPr marL="68580" marR="68580" marT="0" marB="0" vert="horz" anchor="ctr" anchorCtr="0">
                    <a:lnL>
                      <a:noFill/>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16865">
                <a:tc>
                  <a:txBody>
                    <a:bodyPr/>
                    <a:p>
                      <a:pPr indent="0">
                        <a:buNone/>
                      </a:pPr>
                      <a:r>
                        <a:rPr lang="en-US" sz="1200" b="0">
                          <a:solidFill>
                            <a:srgbClr val="000000"/>
                          </a:solidFill>
                          <a:latin typeface="Calibri" charset="0"/>
                          <a:cs typeface="Calibri" charset="0"/>
                        </a:rPr>
                        <a:t>Gender</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buNone/>
                      </a:pPr>
                      <a:r>
                        <a:rPr lang="en-US" sz="1200" b="0">
                          <a:solidFill>
                            <a:srgbClr val="000000"/>
                          </a:solidFill>
                          <a:latin typeface="Calibri" charset="0"/>
                          <a:cs typeface="Calibri" charset="0"/>
                        </a:rPr>
                        <a:t>Woman / Girl</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lgn="ctr">
                        <a:buNone/>
                      </a:pPr>
                      <a:r>
                        <a:rPr lang="en-US" sz="1200" b="0">
                          <a:solidFill>
                            <a:srgbClr val="000000"/>
                          </a:solidFill>
                          <a:latin typeface="Calibri" charset="0"/>
                          <a:cs typeface="Calibri" charset="0"/>
                        </a:rPr>
                        <a:t>39534</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w="12700" cap="flat" cmpd="sng">
                      <a:solidFill>
                        <a:srgbClr val="080000"/>
                      </a:solidFill>
                      <a:prstDash val="solid"/>
                      <a:headEnd type="none" w="med" len="med"/>
                      <a:tailEnd type="none" w="med" len="med"/>
                    </a:lnT>
                    <a:lnB cap="flat">
                      <a:noFill/>
                    </a:lnB>
                    <a:lnTlToBr>
                      <a:noFill/>
                    </a:lnTlToBr>
                    <a:lnBlToTr>
                      <a:noFill/>
                    </a:lnBlToTr>
                    <a:noFill/>
                  </a:tcPr>
                </a:tc>
              </a:tr>
              <a:tr h="316865">
                <a:tc>
                  <a:txBody>
                    <a:bodyPr/>
                    <a:p>
                      <a:pPr indent="0">
                        <a:buNone/>
                      </a:pPr>
                      <a:r>
                        <a:rPr lang="en-US" sz="1200" b="0">
                          <a:solidFill>
                            <a:srgbClr val="000000"/>
                          </a:solidFill>
                          <a:latin typeface="Calibri" charset="0"/>
                          <a:cs typeface="Calibri" charset="0"/>
                        </a:rPr>
                        <a:t> </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buNone/>
                      </a:pPr>
                      <a:r>
                        <a:rPr lang="en-US" sz="1200" b="0">
                          <a:solidFill>
                            <a:srgbClr val="000000"/>
                          </a:solidFill>
                          <a:latin typeface="Calibri" charset="0"/>
                          <a:cs typeface="Calibri" charset="0"/>
                        </a:rPr>
                        <a:t>Man / Boy</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lgn="ctr">
                        <a:buNone/>
                      </a:pPr>
                      <a:r>
                        <a:rPr lang="en-US" sz="1200" b="0">
                          <a:solidFill>
                            <a:srgbClr val="000000"/>
                          </a:solidFill>
                          <a:latin typeface="Calibri" charset="0"/>
                          <a:cs typeface="Calibri" charset="0"/>
                        </a:rPr>
                        <a:t>33520</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r>
              <a:tr h="316865">
                <a:tc>
                  <a:txBody>
                    <a:bodyPr/>
                    <a:p>
                      <a:pPr indent="0">
                        <a:buNone/>
                      </a:pPr>
                      <a:r>
                        <a:rPr lang="en-US" sz="1200" b="0">
                          <a:solidFill>
                            <a:srgbClr val="000000"/>
                          </a:solidFill>
                          <a:latin typeface="Calibri" charset="0"/>
                          <a:cs typeface="Calibri" charset="0"/>
                        </a:rPr>
                        <a:t> </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buNone/>
                      </a:pPr>
                      <a:r>
                        <a:rPr lang="en-US" sz="1200" b="0">
                          <a:solidFill>
                            <a:srgbClr val="000000"/>
                          </a:solidFill>
                          <a:latin typeface="Calibri" charset="0"/>
                          <a:cs typeface="Calibri" charset="0"/>
                        </a:rPr>
                        <a:t>Trans woman / girl</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lgn="ctr">
                        <a:buNone/>
                      </a:pPr>
                      <a:r>
                        <a:rPr lang="en-US" sz="1200" b="0">
                          <a:solidFill>
                            <a:srgbClr val="000000"/>
                          </a:solidFill>
                          <a:latin typeface="Calibri" charset="0"/>
                          <a:cs typeface="Calibri" charset="0"/>
                        </a:rPr>
                        <a:t>3101</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r>
              <a:tr h="316865">
                <a:tc>
                  <a:txBody>
                    <a:bodyPr/>
                    <a:p>
                      <a:pPr indent="0">
                        <a:buNone/>
                      </a:pPr>
                      <a:r>
                        <a:rPr lang="en-US" sz="1200" b="0">
                          <a:solidFill>
                            <a:srgbClr val="000000"/>
                          </a:solidFill>
                          <a:latin typeface="Calibri" charset="0"/>
                          <a:cs typeface="Calibri" charset="0"/>
                        </a:rPr>
                        <a:t> </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buNone/>
                      </a:pPr>
                      <a:r>
                        <a:rPr lang="en-US" sz="1200" b="0">
                          <a:solidFill>
                            <a:srgbClr val="000000"/>
                          </a:solidFill>
                          <a:latin typeface="Calibri" charset="0"/>
                          <a:cs typeface="Calibri" charset="0"/>
                        </a:rPr>
                        <a:t>Trans man / boy</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lgn="ctr">
                        <a:buNone/>
                      </a:pPr>
                      <a:r>
                        <a:rPr lang="en-US" sz="1200" b="0">
                          <a:solidFill>
                            <a:srgbClr val="000000"/>
                          </a:solidFill>
                          <a:latin typeface="Calibri" charset="0"/>
                          <a:cs typeface="Calibri" charset="0"/>
                        </a:rPr>
                        <a:t>4283</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r>
              <a:tr h="316865">
                <a:tc>
                  <a:txBody>
                    <a:bodyPr/>
                    <a:p>
                      <a:pPr indent="0">
                        <a:buNone/>
                      </a:pPr>
                      <a:r>
                        <a:rPr lang="en-US" sz="1200" b="0">
                          <a:solidFill>
                            <a:srgbClr val="000000"/>
                          </a:solidFill>
                          <a:latin typeface="Calibri" charset="0"/>
                          <a:cs typeface="Calibri" charset="0"/>
                        </a:rPr>
                        <a:t> </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buNone/>
                      </a:pPr>
                      <a:r>
                        <a:rPr lang="en-US" sz="1200" b="0">
                          <a:solidFill>
                            <a:srgbClr val="000000"/>
                          </a:solidFill>
                          <a:latin typeface="Calibri" charset="0"/>
                          <a:cs typeface="Calibri" charset="0"/>
                        </a:rPr>
                        <a:t>Non-binary/fluid</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lgn="ctr">
                        <a:buNone/>
                      </a:pPr>
                      <a:r>
                        <a:rPr lang="en-US" sz="1200" b="0">
                          <a:solidFill>
                            <a:srgbClr val="000000"/>
                          </a:solidFill>
                          <a:latin typeface="Calibri" charset="0"/>
                          <a:cs typeface="Calibri" charset="0"/>
                        </a:rPr>
                        <a:t>18155</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r>
              <a:tr h="316865">
                <a:tc>
                  <a:txBody>
                    <a:bodyPr/>
                    <a:p>
                      <a:pPr indent="0">
                        <a:buNone/>
                      </a:pPr>
                      <a:r>
                        <a:rPr lang="en-US" sz="1200" b="0">
                          <a:solidFill>
                            <a:srgbClr val="000000"/>
                          </a:solidFill>
                          <a:latin typeface="Calibri" charset="0"/>
                          <a:cs typeface="Calibri" charset="0"/>
                        </a:rPr>
                        <a:t>Sexuality</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buNone/>
                      </a:pPr>
                      <a:r>
                        <a:rPr lang="en-US" sz="1200" b="0">
                          <a:solidFill>
                            <a:srgbClr val="000000"/>
                          </a:solidFill>
                          <a:latin typeface="Calibri" charset="0"/>
                          <a:cs typeface="Calibri" charset="0"/>
                        </a:rPr>
                        <a:t>Lesbian</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lgn="ctr">
                        <a:buNone/>
                      </a:pPr>
                      <a:r>
                        <a:rPr lang="en-US" sz="1200" b="0">
                          <a:solidFill>
                            <a:srgbClr val="000000"/>
                          </a:solidFill>
                          <a:latin typeface="Calibri" charset="0"/>
                          <a:cs typeface="Calibri" charset="0"/>
                        </a:rPr>
                        <a:t>20813</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r>
              <a:tr h="316865">
                <a:tc>
                  <a:txBody>
                    <a:bodyPr/>
                    <a:p>
                      <a:pPr indent="0">
                        <a:buNone/>
                      </a:pPr>
                      <a:r>
                        <a:rPr lang="en-US" sz="1200" b="0">
                          <a:solidFill>
                            <a:srgbClr val="000000"/>
                          </a:solidFill>
                          <a:latin typeface="Calibri" charset="0"/>
                          <a:cs typeface="Calibri" charset="0"/>
                        </a:rPr>
                        <a:t> </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buNone/>
                      </a:pPr>
                      <a:r>
                        <a:rPr lang="en-US" sz="1200" b="0">
                          <a:solidFill>
                            <a:srgbClr val="000000"/>
                          </a:solidFill>
                          <a:latin typeface="Calibri" charset="0"/>
                          <a:cs typeface="Calibri" charset="0"/>
                        </a:rPr>
                        <a:t>Gay</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lgn="ctr">
                        <a:buNone/>
                      </a:pPr>
                      <a:r>
                        <a:rPr lang="en-US" sz="1200" b="0">
                          <a:solidFill>
                            <a:srgbClr val="000000"/>
                          </a:solidFill>
                          <a:latin typeface="Calibri" charset="0"/>
                          <a:cs typeface="Calibri" charset="0"/>
                        </a:rPr>
                        <a:t>28770</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r>
              <a:tr h="316865">
                <a:tc>
                  <a:txBody>
                    <a:bodyPr/>
                    <a:p>
                      <a:pPr indent="0">
                        <a:buNone/>
                      </a:pPr>
                      <a:r>
                        <a:rPr lang="en-US" sz="1200" b="0">
                          <a:solidFill>
                            <a:srgbClr val="000000"/>
                          </a:solidFill>
                          <a:latin typeface="Calibri" charset="0"/>
                          <a:cs typeface="Calibri" charset="0"/>
                        </a:rPr>
                        <a:t> </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buNone/>
                      </a:pPr>
                      <a:r>
                        <a:rPr lang="en-US" sz="1200" b="0">
                          <a:solidFill>
                            <a:srgbClr val="000000"/>
                          </a:solidFill>
                          <a:latin typeface="Calibri" charset="0"/>
                          <a:cs typeface="Calibri" charset="0"/>
                        </a:rPr>
                        <a:t>Asexual</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lgn="ctr">
                        <a:buNone/>
                      </a:pPr>
                      <a:r>
                        <a:rPr lang="en-US" sz="1200" b="0">
                          <a:solidFill>
                            <a:srgbClr val="000000"/>
                          </a:solidFill>
                          <a:latin typeface="Calibri" charset="0"/>
                          <a:cs typeface="Calibri" charset="0"/>
                        </a:rPr>
                        <a:t>24591</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r>
              <a:tr h="316865">
                <a:tc>
                  <a:txBody>
                    <a:bodyPr/>
                    <a:p>
                      <a:pPr indent="0">
                        <a:buNone/>
                      </a:pPr>
                      <a:r>
                        <a:rPr lang="en-US" sz="1200" b="0">
                          <a:solidFill>
                            <a:srgbClr val="000000"/>
                          </a:solidFill>
                          <a:latin typeface="Calibri" charset="0"/>
                          <a:cs typeface="Calibri" charset="0"/>
                        </a:rPr>
                        <a:t> </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buNone/>
                      </a:pPr>
                      <a:r>
                        <a:rPr lang="en-US" sz="1200" b="0">
                          <a:solidFill>
                            <a:srgbClr val="000000"/>
                          </a:solidFill>
                          <a:latin typeface="Calibri" charset="0"/>
                          <a:cs typeface="Calibri" charset="0"/>
                        </a:rPr>
                        <a:t>Bisexual</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lgn="ctr">
                        <a:buNone/>
                      </a:pPr>
                      <a:r>
                        <a:rPr lang="en-US" sz="1200" b="0">
                          <a:solidFill>
                            <a:srgbClr val="000000"/>
                          </a:solidFill>
                          <a:latin typeface="Calibri" charset="0"/>
                          <a:cs typeface="Calibri" charset="0"/>
                        </a:rPr>
                        <a:t>12725</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r>
              <a:tr h="316865">
                <a:tc>
                  <a:txBody>
                    <a:bodyPr/>
                    <a:p>
                      <a:pPr indent="0">
                        <a:buNone/>
                      </a:pPr>
                      <a:r>
                        <a:rPr lang="en-US" sz="1200" b="0">
                          <a:solidFill>
                            <a:srgbClr val="000000"/>
                          </a:solidFill>
                          <a:latin typeface="Calibri" charset="0"/>
                          <a:cs typeface="Calibri" charset="0"/>
                        </a:rPr>
                        <a:t> </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buNone/>
                      </a:pPr>
                      <a:r>
                        <a:rPr lang="en-US" sz="1200" b="0">
                          <a:solidFill>
                            <a:srgbClr val="000000"/>
                          </a:solidFill>
                          <a:latin typeface="Calibri" charset="0"/>
                          <a:cs typeface="Calibri" charset="0"/>
                        </a:rPr>
                        <a:t>Pansexual</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lgn="ctr">
                        <a:buNone/>
                      </a:pPr>
                      <a:r>
                        <a:rPr lang="en-US" sz="1200" b="0">
                          <a:solidFill>
                            <a:srgbClr val="000000"/>
                          </a:solidFill>
                          <a:latin typeface="Calibri" charset="0"/>
                          <a:cs typeface="Calibri" charset="0"/>
                        </a:rPr>
                        <a:t>8081</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r>
              <a:tr h="316865">
                <a:tc>
                  <a:txBody>
                    <a:bodyPr/>
                    <a:p>
                      <a:pPr indent="0">
                        <a:buNone/>
                      </a:pPr>
                      <a:r>
                        <a:rPr lang="en-US" sz="1200" b="0">
                          <a:solidFill>
                            <a:srgbClr val="000000"/>
                          </a:solidFill>
                          <a:latin typeface="Calibri" charset="0"/>
                          <a:cs typeface="Calibri" charset="0"/>
                        </a:rPr>
                        <a:t> </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buNone/>
                      </a:pPr>
                      <a:r>
                        <a:rPr lang="en-US" sz="1200" b="0">
                          <a:solidFill>
                            <a:srgbClr val="000000"/>
                          </a:solidFill>
                          <a:latin typeface="Calibri" charset="0"/>
                          <a:cs typeface="Calibri" charset="0"/>
                        </a:rPr>
                        <a:t>Heterosexual/Straight</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lgn="ctr">
                        <a:buNone/>
                      </a:pPr>
                      <a:r>
                        <a:rPr lang="en-US" sz="1200" b="0">
                          <a:solidFill>
                            <a:srgbClr val="000000"/>
                          </a:solidFill>
                          <a:latin typeface="Calibri" charset="0"/>
                          <a:cs typeface="Calibri" charset="0"/>
                        </a:rPr>
                        <a:t>881</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r>
              <a:tr h="316865">
                <a:tc>
                  <a:txBody>
                    <a:bodyPr/>
                    <a:p>
                      <a:pPr indent="0">
                        <a:buNone/>
                      </a:pPr>
                      <a:r>
                        <a:rPr lang="en-US" sz="1200" b="0">
                          <a:solidFill>
                            <a:srgbClr val="000000"/>
                          </a:solidFill>
                          <a:latin typeface="Calibri" charset="0"/>
                          <a:cs typeface="Calibri" charset="0"/>
                        </a:rPr>
                        <a:t> </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w="12700" cap="flat">
                      <a:solidFill>
                        <a:schemeClr val="tx1"/>
                      </a:solidFill>
                      <a:prstDash val="solid"/>
                    </a:lnB>
                    <a:lnTlToBr>
                      <a:noFill/>
                    </a:lnTlToBr>
                    <a:lnBlToTr>
                      <a:noFill/>
                    </a:lnBlToTr>
                    <a:noFill/>
                  </a:tcPr>
                </a:tc>
                <a:tc>
                  <a:txBody>
                    <a:bodyPr/>
                    <a:p>
                      <a:pPr indent="0">
                        <a:buNone/>
                      </a:pPr>
                      <a:r>
                        <a:rPr lang="en-US" sz="1200" b="0">
                          <a:solidFill>
                            <a:srgbClr val="000000"/>
                          </a:solidFill>
                          <a:latin typeface="Calibri" charset="0"/>
                          <a:cs typeface="Calibri" charset="0"/>
                        </a:rPr>
                        <a:t>Other</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w="12700" cap="flat">
                      <a:solidFill>
                        <a:schemeClr val="tx1"/>
                      </a:solidFill>
                      <a:prstDash val="solid"/>
                    </a:lnB>
                    <a:lnTlToBr>
                      <a:noFill/>
                    </a:lnTlToBr>
                    <a:lnBlToTr>
                      <a:noFill/>
                    </a:lnBlToTr>
                    <a:noFill/>
                  </a:tcPr>
                </a:tc>
                <a:tc>
                  <a:txBody>
                    <a:bodyPr/>
                    <a:p>
                      <a:pPr indent="0" algn="ctr">
                        <a:buNone/>
                      </a:pPr>
                      <a:r>
                        <a:rPr lang="en-US" sz="1200" b="0">
                          <a:solidFill>
                            <a:srgbClr val="000000"/>
                          </a:solidFill>
                          <a:latin typeface="Calibri" charset="0"/>
                          <a:cs typeface="Calibri" charset="0"/>
                        </a:rPr>
                        <a:t>2700</a:t>
                      </a:r>
                      <a:endParaRPr lang="en-US" altLang="en-US" sz="1200" b="0">
                        <a:solidFill>
                          <a:srgbClr val="000000"/>
                        </a:solidFill>
                        <a:latin typeface="Calibri" charset="0"/>
                        <a:ea typeface="Calibri" charset="0"/>
                        <a:cs typeface="Calibri" charset="0"/>
                      </a:endParaRPr>
                    </a:p>
                  </a:txBody>
                  <a:tcPr marL="68580" marR="68580" marT="0" marB="0" vert="horz" anchor="ctr" anchorCtr="0">
                    <a:lnL>
                      <a:noFill/>
                    </a:lnL>
                    <a:lnR>
                      <a:noFill/>
                    </a:lnR>
                    <a:lnT cap="flat">
                      <a:noFill/>
                    </a:lnT>
                    <a:lnB w="12700" cap="flat">
                      <a:solidFill>
                        <a:schemeClr val="tx1"/>
                      </a:solidFill>
                      <a:prstDash val="solid"/>
                    </a:lnB>
                    <a:lnTlToBr>
                      <a:noFill/>
                    </a:lnTlToBr>
                    <a:lnBlToTr>
                      <a:noFill/>
                    </a:lnBlToTr>
                    <a:noFill/>
                  </a:tcPr>
                </a:tc>
              </a:tr>
            </a:tbl>
          </a:graphicData>
        </a:graphic>
      </p:graphicFrame>
      <p:graphicFrame>
        <p:nvGraphicFramePr>
          <p:cNvPr id="6" name="表格 5"/>
          <p:cNvGraphicFramePr/>
          <p:nvPr/>
        </p:nvGraphicFramePr>
        <p:xfrm>
          <a:off x="7073900" y="1584325"/>
          <a:ext cx="4089400" cy="2263775"/>
        </p:xfrm>
        <a:graphic>
          <a:graphicData uri="http://schemas.openxmlformats.org/drawingml/2006/table">
            <a:tbl>
              <a:tblPr/>
              <a:tblGrid>
                <a:gridCol w="1191895"/>
                <a:gridCol w="2076450"/>
                <a:gridCol w="821055"/>
              </a:tblGrid>
              <a:tr h="395605">
                <a:tc>
                  <a:txBody>
                    <a:bodyPr/>
                    <a:p>
                      <a:pPr algn="ctr">
                        <a:buClrTx/>
                        <a:buSzTx/>
                        <a:buFontTx/>
                        <a:buNone/>
                      </a:pPr>
                      <a:r>
                        <a:rPr lang="en-US" sz="1200" b="1">
                          <a:solidFill>
                            <a:srgbClr val="000000"/>
                          </a:solidFill>
                          <a:latin typeface="Calibri" charset="0"/>
                          <a:cs typeface="Calibri" charset="0"/>
                        </a:rPr>
                        <a:t>Variable</a:t>
                      </a:r>
                      <a:endParaRPr lang="en-US" sz="1200" b="1">
                        <a:solidFill>
                          <a:srgbClr val="000000"/>
                        </a:solidFill>
                        <a:latin typeface="Calibri" charset="0"/>
                        <a:cs typeface="Calibri" charset="0"/>
                      </a:endParaRPr>
                    </a:p>
                  </a:txBody>
                  <a:tcPr marL="68580" marR="68580" marT="0" marB="0" vert="horz" anchor="ctr" anchorCtr="0">
                    <a:lnL>
                      <a:noFill/>
                    </a:lnL>
                    <a:lnR>
                      <a:noFill/>
                    </a:lnR>
                    <a:lnT w="12700" cap="flat">
                      <a:solidFill>
                        <a:schemeClr val="tx1"/>
                      </a:solidFill>
                      <a:prstDash val="solid"/>
                    </a:lnT>
                    <a:lnB w="12700" cap="flat">
                      <a:solidFill>
                        <a:schemeClr val="tx1"/>
                      </a:solidFill>
                      <a:prstDash val="solid"/>
                    </a:lnB>
                    <a:lnTlToBr>
                      <a:noFill/>
                    </a:lnTlToBr>
                    <a:lnBlToTr>
                      <a:noFill/>
                    </a:lnBlToTr>
                    <a:noFill/>
                  </a:tcPr>
                </a:tc>
                <a:tc>
                  <a:txBody>
                    <a:bodyPr/>
                    <a:p>
                      <a:pPr algn="ctr">
                        <a:buClrTx/>
                        <a:buSzTx/>
                        <a:buFontTx/>
                        <a:buNone/>
                      </a:pPr>
                      <a:r>
                        <a:rPr lang="en-US" sz="1200" b="1">
                          <a:solidFill>
                            <a:srgbClr val="000000"/>
                          </a:solidFill>
                          <a:latin typeface="Calibri" charset="0"/>
                          <a:cs typeface="Calibri" charset="0"/>
                        </a:rPr>
                        <a:t>Category</a:t>
                      </a:r>
                      <a:endParaRPr lang="en-US" sz="1200" b="1">
                        <a:solidFill>
                          <a:srgbClr val="000000"/>
                        </a:solidFill>
                        <a:latin typeface="Calibri" charset="0"/>
                        <a:cs typeface="Calibri" charset="0"/>
                      </a:endParaRPr>
                    </a:p>
                  </a:txBody>
                  <a:tcPr marL="68580" marR="68580" marT="0" marB="0" vert="horz" anchor="ctr" anchorCtr="0">
                    <a:lnL>
                      <a:noFill/>
                    </a:lnL>
                    <a:lnR>
                      <a:noFill/>
                    </a:lnR>
                    <a:lnT w="12700" cap="flat">
                      <a:solidFill>
                        <a:schemeClr val="tx1"/>
                      </a:solidFill>
                      <a:prstDash val="solid"/>
                    </a:lnT>
                    <a:lnB w="12700" cap="flat">
                      <a:solidFill>
                        <a:schemeClr val="tx1"/>
                      </a:solidFill>
                      <a:prstDash val="solid"/>
                    </a:lnB>
                    <a:lnTlToBr>
                      <a:noFill/>
                    </a:lnTlToBr>
                    <a:lnBlToTr>
                      <a:noFill/>
                    </a:lnBlToTr>
                    <a:noFill/>
                  </a:tcPr>
                </a:tc>
                <a:tc>
                  <a:txBody>
                    <a:bodyPr/>
                    <a:p>
                      <a:pPr algn="ctr">
                        <a:buClrTx/>
                        <a:buSzTx/>
                        <a:buFontTx/>
                        <a:buNone/>
                      </a:pPr>
                      <a:r>
                        <a:rPr lang="en-US" sz="1200" b="1">
                          <a:solidFill>
                            <a:srgbClr val="000000"/>
                          </a:solidFill>
                          <a:latin typeface="Calibri" charset="0"/>
                          <a:cs typeface="Calibri" charset="0"/>
                        </a:rPr>
                        <a:t>Count</a:t>
                      </a:r>
                      <a:endParaRPr lang="en-US" sz="1200" b="1">
                        <a:solidFill>
                          <a:srgbClr val="000000"/>
                        </a:solidFill>
                        <a:latin typeface="Calibri" charset="0"/>
                        <a:cs typeface="Calibri" charset="0"/>
                      </a:endParaRPr>
                    </a:p>
                  </a:txBody>
                  <a:tcPr marL="68580" marR="68580" marT="0" marB="0" vert="horz" anchor="ctr" anchorCtr="0">
                    <a:lnL>
                      <a:noFill/>
                    </a:lnL>
                    <a:lnR>
                      <a:noFill/>
                    </a:lnR>
                    <a:lnT w="12700" cap="flat">
                      <a:solidFill>
                        <a:schemeClr val="tx1"/>
                      </a:solidFill>
                      <a:prstDash val="solid"/>
                    </a:lnT>
                    <a:lnB w="12700" cap="flat">
                      <a:solidFill>
                        <a:schemeClr val="tx1"/>
                      </a:solidFill>
                      <a:prstDash val="solid"/>
                    </a:lnB>
                    <a:lnTlToBr>
                      <a:noFill/>
                    </a:lnTlToBr>
                    <a:lnBlToTr>
                      <a:noFill/>
                    </a:lnBlToTr>
                    <a:noFill/>
                  </a:tcPr>
                </a:tc>
              </a:tr>
              <a:tr h="494665">
                <a:tc>
                  <a:txBody>
                    <a:bodyPr/>
                    <a:p>
                      <a:pPr indent="0">
                        <a:buNone/>
                      </a:pPr>
                      <a:r>
                        <a:rPr lang="en-US" sz="1200" b="0">
                          <a:solidFill>
                            <a:srgbClr val="000000"/>
                          </a:solidFill>
                          <a:cs typeface="+mn-lt"/>
                        </a:rPr>
                        <a:t>Economic Level</a:t>
                      </a:r>
                      <a:endParaRPr lang="en-US" altLang="en-US" sz="1200" b="0">
                        <a:solidFill>
                          <a:srgbClr val="000000"/>
                        </a:solidFill>
                        <a:ea typeface="Calibri" charset="0"/>
                        <a:cs typeface="+mn-lt"/>
                      </a:endParaRPr>
                    </a:p>
                  </a:txBody>
                  <a:tcPr marL="68580" marR="68580" marT="0" marB="0" vert="horz" anchor="ctr" anchorCtr="0">
                    <a:lnL>
                      <a:noFill/>
                    </a:lnL>
                    <a:lnR>
                      <a:noFill/>
                    </a:lnR>
                    <a:lnT w="12700" cap="flat">
                      <a:solidFill>
                        <a:schemeClr val="tx1"/>
                      </a:solidFill>
                      <a:prstDash val="solid"/>
                    </a:lnT>
                    <a:lnB cap="flat">
                      <a:noFill/>
                    </a:lnB>
                    <a:lnTlToBr>
                      <a:noFill/>
                    </a:lnTlToBr>
                    <a:lnBlToTr>
                      <a:noFill/>
                    </a:lnBlToTr>
                    <a:noFill/>
                  </a:tcPr>
                </a:tc>
                <a:tc>
                  <a:txBody>
                    <a:bodyPr/>
                    <a:p>
                      <a:pPr indent="0" algn="l">
                        <a:buNone/>
                      </a:pPr>
                      <a:r>
                        <a:rPr lang="en-US" sz="1200" b="0">
                          <a:solidFill>
                            <a:srgbClr val="000000"/>
                          </a:solidFill>
                          <a:cs typeface="+mn-lt"/>
                        </a:rPr>
                        <a:t>With Some Difficulty</a:t>
                      </a:r>
                      <a:endParaRPr lang="en-US" altLang="en-US" sz="1200" b="0">
                        <a:solidFill>
                          <a:srgbClr val="000000"/>
                        </a:solidFill>
                        <a:ea typeface="宋体" charset="0"/>
                        <a:cs typeface="+mn-lt"/>
                      </a:endParaRPr>
                    </a:p>
                  </a:txBody>
                  <a:tcPr marL="68580" marR="68580" marT="0" marB="0" vert="horz" anchor="ctr" anchorCtr="0">
                    <a:lnL>
                      <a:noFill/>
                    </a:lnL>
                    <a:lnR>
                      <a:noFill/>
                    </a:lnR>
                    <a:lnT w="12700" cap="flat">
                      <a:solidFill>
                        <a:schemeClr val="tx1"/>
                      </a:solidFill>
                      <a:prstDash val="solid"/>
                    </a:lnT>
                    <a:lnB cap="flat">
                      <a:noFill/>
                    </a:lnB>
                    <a:lnTlToBr>
                      <a:noFill/>
                    </a:lnTlToBr>
                    <a:lnBlToTr>
                      <a:noFill/>
                    </a:lnBlToTr>
                    <a:noFill/>
                  </a:tcPr>
                </a:tc>
                <a:tc>
                  <a:txBody>
                    <a:bodyPr/>
                    <a:p>
                      <a:pPr indent="0" algn="l">
                        <a:buNone/>
                      </a:pPr>
                      <a:r>
                        <a:rPr lang="en-US" sz="1200" b="0">
                          <a:solidFill>
                            <a:srgbClr val="000000"/>
                          </a:solidFill>
                          <a:cs typeface="+mn-lt"/>
                        </a:rPr>
                        <a:t>23511</a:t>
                      </a:r>
                      <a:endParaRPr lang="en-US" altLang="en-US" sz="1200" b="0">
                        <a:solidFill>
                          <a:srgbClr val="000000"/>
                        </a:solidFill>
                        <a:ea typeface="Calibri" charset="0"/>
                        <a:cs typeface="+mn-lt"/>
                      </a:endParaRPr>
                    </a:p>
                  </a:txBody>
                  <a:tcPr marL="68580" marR="68580" marT="0" marB="0" vert="horz" anchor="ctr" anchorCtr="0">
                    <a:lnL>
                      <a:noFill/>
                    </a:lnL>
                    <a:lnR>
                      <a:noFill/>
                    </a:lnR>
                    <a:lnT w="12700" cap="flat">
                      <a:solidFill>
                        <a:schemeClr val="tx1"/>
                      </a:solidFill>
                      <a:prstDash val="solid"/>
                    </a:lnT>
                    <a:lnB cap="flat">
                      <a:noFill/>
                    </a:lnB>
                    <a:lnTlToBr>
                      <a:noFill/>
                    </a:lnTlToBr>
                    <a:lnBlToTr>
                      <a:noFill/>
                    </a:lnBlToTr>
                    <a:noFill/>
                  </a:tcPr>
                </a:tc>
              </a:tr>
              <a:tr h="274955">
                <a:tc>
                  <a:txBody>
                    <a:bodyPr/>
                    <a:p>
                      <a:pPr indent="0">
                        <a:buNone/>
                      </a:pPr>
                      <a:r>
                        <a:rPr lang="en-US" sz="1200" b="0">
                          <a:solidFill>
                            <a:srgbClr val="000000"/>
                          </a:solidFill>
                          <a:cs typeface="+mn-lt"/>
                        </a:rPr>
                        <a:t> </a:t>
                      </a:r>
                      <a:endParaRPr lang="en-US" altLang="en-US" sz="1200" b="0">
                        <a:solidFill>
                          <a:srgbClr val="000000"/>
                        </a:solidFill>
                        <a:ea typeface="Calibri" charset="0"/>
                        <a:cs typeface="+mn-lt"/>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lgn="l">
                        <a:buNone/>
                      </a:pPr>
                      <a:r>
                        <a:rPr lang="en-US" sz="1200" b="0">
                          <a:solidFill>
                            <a:srgbClr val="000000"/>
                          </a:solidFill>
                          <a:cs typeface="+mn-lt"/>
                        </a:rPr>
                        <a:t>Very Easy</a:t>
                      </a:r>
                      <a:endParaRPr lang="en-US" altLang="en-US" sz="1200" b="0">
                        <a:solidFill>
                          <a:srgbClr val="000000"/>
                        </a:solidFill>
                        <a:ea typeface="宋体" charset="0"/>
                        <a:cs typeface="+mn-lt"/>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lgn="l">
                        <a:buNone/>
                      </a:pPr>
                      <a:r>
                        <a:rPr lang="en-US" sz="1200" b="0">
                          <a:solidFill>
                            <a:srgbClr val="000000"/>
                          </a:solidFill>
                          <a:cs typeface="+mn-lt"/>
                        </a:rPr>
                        <a:t>9645</a:t>
                      </a:r>
                      <a:endParaRPr lang="en-US" altLang="en-US" sz="1200" b="0">
                        <a:solidFill>
                          <a:srgbClr val="000000"/>
                        </a:solidFill>
                        <a:ea typeface="Calibri" charset="0"/>
                        <a:cs typeface="+mn-lt"/>
                      </a:endParaRPr>
                    </a:p>
                  </a:txBody>
                  <a:tcPr marL="68580" marR="68580" marT="0" marB="0" vert="horz" anchor="ctr" anchorCtr="0">
                    <a:lnL>
                      <a:noFill/>
                    </a:lnL>
                    <a:lnR>
                      <a:noFill/>
                    </a:lnR>
                    <a:lnT cap="flat">
                      <a:noFill/>
                    </a:lnT>
                    <a:lnB cap="flat">
                      <a:noFill/>
                    </a:lnB>
                    <a:lnTlToBr>
                      <a:noFill/>
                    </a:lnTlToBr>
                    <a:lnBlToTr>
                      <a:noFill/>
                    </a:lnBlToTr>
                    <a:noFill/>
                  </a:tcPr>
                </a:tc>
              </a:tr>
              <a:tr h="274320">
                <a:tc>
                  <a:txBody>
                    <a:bodyPr/>
                    <a:p>
                      <a:pPr indent="0">
                        <a:buNone/>
                      </a:pPr>
                      <a:r>
                        <a:rPr lang="en-US" sz="1200" b="0">
                          <a:solidFill>
                            <a:srgbClr val="000000"/>
                          </a:solidFill>
                          <a:cs typeface="+mn-lt"/>
                        </a:rPr>
                        <a:t> </a:t>
                      </a:r>
                      <a:endParaRPr lang="en-US" altLang="en-US" sz="1200" b="0">
                        <a:solidFill>
                          <a:srgbClr val="000000"/>
                        </a:solidFill>
                        <a:ea typeface="Calibri" charset="0"/>
                        <a:cs typeface="+mn-lt"/>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lgn="l">
                        <a:buNone/>
                      </a:pPr>
                      <a:r>
                        <a:rPr lang="en-US" sz="1200" b="0">
                          <a:solidFill>
                            <a:srgbClr val="000000"/>
                          </a:solidFill>
                          <a:cs typeface="+mn-lt"/>
                        </a:rPr>
                        <a:t>Easy</a:t>
                      </a:r>
                      <a:endParaRPr lang="en-US" altLang="en-US" sz="1200" b="0">
                        <a:solidFill>
                          <a:srgbClr val="000000"/>
                        </a:solidFill>
                        <a:ea typeface="宋体" charset="0"/>
                        <a:cs typeface="+mn-lt"/>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lgn="l">
                        <a:buNone/>
                      </a:pPr>
                      <a:r>
                        <a:rPr lang="en-US" sz="1200" b="0">
                          <a:solidFill>
                            <a:srgbClr val="000000"/>
                          </a:solidFill>
                          <a:cs typeface="+mn-lt"/>
                        </a:rPr>
                        <a:t>21677</a:t>
                      </a:r>
                      <a:endParaRPr lang="en-US" altLang="en-US" sz="1200" b="0">
                        <a:solidFill>
                          <a:srgbClr val="000000"/>
                        </a:solidFill>
                        <a:ea typeface="Calibri" charset="0"/>
                        <a:cs typeface="+mn-lt"/>
                      </a:endParaRPr>
                    </a:p>
                  </a:txBody>
                  <a:tcPr marL="68580" marR="68580" marT="0" marB="0" vert="horz" anchor="ctr" anchorCtr="0">
                    <a:lnL>
                      <a:noFill/>
                    </a:lnL>
                    <a:lnR>
                      <a:noFill/>
                    </a:lnR>
                    <a:lnT cap="flat">
                      <a:noFill/>
                    </a:lnT>
                    <a:lnB cap="flat">
                      <a:noFill/>
                    </a:lnB>
                    <a:lnTlToBr>
                      <a:noFill/>
                    </a:lnTlToBr>
                    <a:lnBlToTr>
                      <a:noFill/>
                    </a:lnBlToTr>
                    <a:noFill/>
                  </a:tcPr>
                </a:tc>
              </a:tr>
              <a:tr h="274955">
                <a:tc>
                  <a:txBody>
                    <a:bodyPr/>
                    <a:p>
                      <a:pPr indent="0">
                        <a:buNone/>
                      </a:pPr>
                      <a:r>
                        <a:rPr lang="en-US" sz="1200" b="0">
                          <a:solidFill>
                            <a:srgbClr val="000000"/>
                          </a:solidFill>
                          <a:cs typeface="+mn-lt"/>
                        </a:rPr>
                        <a:t> </a:t>
                      </a:r>
                      <a:endParaRPr lang="en-US" altLang="en-US" sz="1200" b="0">
                        <a:solidFill>
                          <a:srgbClr val="000000"/>
                        </a:solidFill>
                        <a:ea typeface="Calibri" charset="0"/>
                        <a:cs typeface="+mn-lt"/>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lgn="l">
                        <a:buNone/>
                      </a:pPr>
                      <a:r>
                        <a:rPr lang="en-US" sz="1200" b="0">
                          <a:solidFill>
                            <a:srgbClr val="000000"/>
                          </a:solidFill>
                          <a:cs typeface="+mn-lt"/>
                        </a:rPr>
                        <a:t>Fairly Easy</a:t>
                      </a:r>
                      <a:endParaRPr lang="en-US" altLang="en-US" sz="1200" b="0">
                        <a:solidFill>
                          <a:srgbClr val="000000"/>
                        </a:solidFill>
                        <a:ea typeface="宋体" charset="0"/>
                        <a:cs typeface="+mn-lt"/>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lgn="l">
                        <a:buNone/>
                      </a:pPr>
                      <a:r>
                        <a:rPr lang="en-US" sz="1200" b="0">
                          <a:solidFill>
                            <a:srgbClr val="000000"/>
                          </a:solidFill>
                          <a:cs typeface="+mn-lt"/>
                        </a:rPr>
                        <a:t>30190</a:t>
                      </a:r>
                      <a:endParaRPr lang="en-US" altLang="en-US" sz="1200" b="0">
                        <a:solidFill>
                          <a:srgbClr val="000000"/>
                        </a:solidFill>
                        <a:ea typeface="Calibri" charset="0"/>
                        <a:cs typeface="+mn-lt"/>
                      </a:endParaRPr>
                    </a:p>
                  </a:txBody>
                  <a:tcPr marL="68580" marR="68580" marT="0" marB="0" vert="horz" anchor="ctr" anchorCtr="0">
                    <a:lnL>
                      <a:noFill/>
                    </a:lnL>
                    <a:lnR>
                      <a:noFill/>
                    </a:lnR>
                    <a:lnT cap="flat">
                      <a:noFill/>
                    </a:lnT>
                    <a:lnB cap="flat">
                      <a:noFill/>
                    </a:lnB>
                    <a:lnTlToBr>
                      <a:noFill/>
                    </a:lnTlToBr>
                    <a:lnBlToTr>
                      <a:noFill/>
                    </a:lnBlToTr>
                    <a:noFill/>
                  </a:tcPr>
                </a:tc>
              </a:tr>
              <a:tr h="274320">
                <a:tc>
                  <a:txBody>
                    <a:bodyPr/>
                    <a:p>
                      <a:pPr indent="0">
                        <a:buNone/>
                      </a:pPr>
                      <a:r>
                        <a:rPr lang="en-US" sz="1200" b="0">
                          <a:solidFill>
                            <a:srgbClr val="000000"/>
                          </a:solidFill>
                          <a:cs typeface="+mn-lt"/>
                        </a:rPr>
                        <a:t> </a:t>
                      </a:r>
                      <a:endParaRPr lang="en-US" altLang="en-US" sz="1200" b="0">
                        <a:solidFill>
                          <a:srgbClr val="000000"/>
                        </a:solidFill>
                        <a:ea typeface="Calibri" charset="0"/>
                        <a:cs typeface="+mn-lt"/>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lgn="l">
                        <a:buNone/>
                      </a:pPr>
                      <a:r>
                        <a:rPr lang="en-US" sz="1200" b="0">
                          <a:solidFill>
                            <a:srgbClr val="000000"/>
                          </a:solidFill>
                          <a:cs typeface="+mn-lt"/>
                        </a:rPr>
                        <a:t>With Difficulty</a:t>
                      </a:r>
                      <a:endParaRPr lang="en-US" altLang="en-US" sz="1200" b="0">
                        <a:solidFill>
                          <a:srgbClr val="000000"/>
                        </a:solidFill>
                        <a:ea typeface="宋体" charset="0"/>
                        <a:cs typeface="+mn-lt"/>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lgn="l">
                        <a:buNone/>
                      </a:pPr>
                      <a:r>
                        <a:rPr lang="en-US" sz="1200" b="0">
                          <a:solidFill>
                            <a:srgbClr val="000000"/>
                          </a:solidFill>
                          <a:cs typeface="+mn-lt"/>
                        </a:rPr>
                        <a:t>9001</a:t>
                      </a:r>
                      <a:endParaRPr lang="en-US" altLang="en-US" sz="1200" b="0">
                        <a:solidFill>
                          <a:srgbClr val="000000"/>
                        </a:solidFill>
                        <a:ea typeface="Calibri" charset="0"/>
                        <a:cs typeface="+mn-lt"/>
                      </a:endParaRPr>
                    </a:p>
                  </a:txBody>
                  <a:tcPr marL="68580" marR="68580" marT="0" marB="0" vert="horz" anchor="ctr" anchorCtr="0">
                    <a:lnL>
                      <a:noFill/>
                    </a:lnL>
                    <a:lnR>
                      <a:noFill/>
                    </a:lnR>
                    <a:lnT cap="flat">
                      <a:noFill/>
                    </a:lnT>
                    <a:lnB cap="flat">
                      <a:noFill/>
                    </a:lnB>
                    <a:lnTlToBr>
                      <a:noFill/>
                    </a:lnTlToBr>
                    <a:lnBlToTr>
                      <a:noFill/>
                    </a:lnBlToTr>
                    <a:noFill/>
                  </a:tcPr>
                </a:tc>
              </a:tr>
              <a:tr h="274955">
                <a:tc>
                  <a:txBody>
                    <a:bodyPr/>
                    <a:p>
                      <a:pPr indent="0">
                        <a:buNone/>
                      </a:pPr>
                      <a:r>
                        <a:rPr lang="en-US" sz="1200" b="0">
                          <a:solidFill>
                            <a:srgbClr val="000000"/>
                          </a:solidFill>
                          <a:cs typeface="+mn-lt"/>
                        </a:rPr>
                        <a:t> </a:t>
                      </a:r>
                      <a:endParaRPr lang="en-US" altLang="en-US" sz="1200" b="0">
                        <a:solidFill>
                          <a:srgbClr val="000000"/>
                        </a:solidFill>
                        <a:ea typeface="Calibri" charset="0"/>
                        <a:cs typeface="+mn-lt"/>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lgn="l">
                        <a:buNone/>
                      </a:pPr>
                      <a:r>
                        <a:rPr lang="en-US" sz="1200" b="0">
                          <a:solidFill>
                            <a:srgbClr val="000000"/>
                          </a:solidFill>
                          <a:cs typeface="+mn-lt"/>
                        </a:rPr>
                        <a:t>With Great Difficulty</a:t>
                      </a:r>
                      <a:endParaRPr lang="en-US" altLang="en-US" sz="1200" b="0">
                        <a:solidFill>
                          <a:srgbClr val="000000"/>
                        </a:solidFill>
                        <a:ea typeface="宋体" charset="0"/>
                        <a:cs typeface="+mn-lt"/>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indent="0" algn="l">
                        <a:buNone/>
                      </a:pPr>
                      <a:r>
                        <a:rPr lang="en-US" sz="1200" b="0">
                          <a:solidFill>
                            <a:srgbClr val="000000"/>
                          </a:solidFill>
                          <a:cs typeface="+mn-lt"/>
                        </a:rPr>
                        <a:t>4225</a:t>
                      </a:r>
                      <a:endParaRPr lang="en-US" altLang="en-US" sz="1200" b="0">
                        <a:solidFill>
                          <a:srgbClr val="000000"/>
                        </a:solidFill>
                        <a:ea typeface="Calibri" charset="0"/>
                        <a:cs typeface="+mn-lt"/>
                      </a:endParaRPr>
                    </a:p>
                  </a:txBody>
                  <a:tcPr marL="68580" marR="68580" marT="0" marB="0" vert="horz" anchor="ctr" anchorCtr="0">
                    <a:lnL>
                      <a:noFill/>
                    </a:lnL>
                    <a:lnR>
                      <a:noFill/>
                    </a:lnR>
                    <a:lnT cap="flat">
                      <a:noFill/>
                    </a:lnT>
                    <a:lnB cap="flat">
                      <a:noFill/>
                    </a:lnB>
                    <a:lnTlToBr>
                      <a:noFill/>
                    </a:lnTlToBr>
                    <a:lnBlToTr>
                      <a:noFill/>
                    </a:lnBlToTr>
                    <a:noFill/>
                  </a:tcPr>
                </a:tc>
              </a:tr>
            </a:tbl>
          </a:graphicData>
        </a:graphic>
      </p:graphicFrame>
      <p:graphicFrame>
        <p:nvGraphicFramePr>
          <p:cNvPr id="7" name="表格 6"/>
          <p:cNvGraphicFramePr/>
          <p:nvPr/>
        </p:nvGraphicFramePr>
        <p:xfrm>
          <a:off x="7073900" y="3917315"/>
          <a:ext cx="4089400" cy="2263775"/>
        </p:xfrm>
        <a:graphic>
          <a:graphicData uri="http://schemas.openxmlformats.org/drawingml/2006/table">
            <a:tbl>
              <a:tblPr/>
              <a:tblGrid>
                <a:gridCol w="1191895"/>
                <a:gridCol w="2076450"/>
                <a:gridCol w="821055"/>
              </a:tblGrid>
              <a:tr h="247015">
                <a:tc>
                  <a:txBody>
                    <a:bodyPr/>
                    <a:p>
                      <a:pPr algn="l">
                        <a:buClrTx/>
                        <a:buSzTx/>
                        <a:buFontTx/>
                        <a:buNone/>
                      </a:pPr>
                      <a:r>
                        <a:rPr lang="en-US" sz="1200" b="0">
                          <a:solidFill>
                            <a:srgbClr val="000000"/>
                          </a:solidFill>
                          <a:latin typeface="Calibri" charset="0"/>
                          <a:cs typeface="Calibri" charset="0"/>
                        </a:rPr>
                        <a:t>Minority</a:t>
                      </a:r>
                      <a:endParaRPr lang="en-US" sz="1200" b="0">
                        <a:solidFill>
                          <a:srgbClr val="000000"/>
                        </a:solidFill>
                        <a:latin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algn="l">
                        <a:buClrTx/>
                        <a:buSzTx/>
                        <a:buFontTx/>
                        <a:buNone/>
                      </a:pPr>
                      <a:r>
                        <a:rPr lang="en-US" sz="1200" b="0">
                          <a:solidFill>
                            <a:srgbClr val="000000"/>
                          </a:solidFill>
                          <a:latin typeface="Calibri" charset="0"/>
                          <a:cs typeface="Calibri" charset="0"/>
                        </a:rPr>
                        <a:t>No minority</a:t>
                      </a:r>
                      <a:endParaRPr lang="en-US" sz="1200" b="0">
                        <a:solidFill>
                          <a:srgbClr val="000000"/>
                        </a:solidFill>
                        <a:latin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algn="l">
                        <a:buClrTx/>
                        <a:buSzTx/>
                        <a:buFontTx/>
                        <a:buNone/>
                      </a:pPr>
                      <a:r>
                        <a:rPr lang="en-US" sz="1200" b="0">
                          <a:solidFill>
                            <a:srgbClr val="000000"/>
                          </a:solidFill>
                          <a:latin typeface="Calibri" charset="0"/>
                          <a:cs typeface="Calibri" charset="0"/>
                        </a:rPr>
                        <a:t>74815</a:t>
                      </a:r>
                      <a:endParaRPr lang="en-US" sz="1200" b="0">
                        <a:solidFill>
                          <a:srgbClr val="000000"/>
                        </a:solidFill>
                        <a:latin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r>
              <a:tr h="274320">
                <a:tc>
                  <a:txBody>
                    <a:bodyPr/>
                    <a:p>
                      <a:pPr algn="l">
                        <a:buClrTx/>
                        <a:buSzTx/>
                        <a:buFontTx/>
                        <a:buNone/>
                      </a:pPr>
                      <a:r>
                        <a:rPr lang="en-US" sz="1200" b="0">
                          <a:solidFill>
                            <a:srgbClr val="000000"/>
                          </a:solidFill>
                          <a:latin typeface="Calibri" charset="0"/>
                          <a:cs typeface="Calibri" charset="0"/>
                        </a:rPr>
                        <a:t> </a:t>
                      </a:r>
                      <a:endParaRPr lang="en-US" sz="1200" b="0">
                        <a:solidFill>
                          <a:srgbClr val="000000"/>
                        </a:solidFill>
                        <a:latin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algn="l">
                        <a:buClrTx/>
                        <a:buSzTx/>
                        <a:buFontTx/>
                        <a:buNone/>
                      </a:pPr>
                      <a:r>
                        <a:rPr lang="en-US" sz="1200" b="0">
                          <a:solidFill>
                            <a:srgbClr val="000000"/>
                          </a:solidFill>
                          <a:latin typeface="Calibri" charset="0"/>
                          <a:cs typeface="Calibri" charset="0"/>
                        </a:rPr>
                        <a:t>Skin color only</a:t>
                      </a:r>
                      <a:endParaRPr lang="en-US" sz="1200" b="0">
                        <a:solidFill>
                          <a:srgbClr val="000000"/>
                        </a:solidFill>
                        <a:latin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algn="l">
                        <a:buClrTx/>
                        <a:buSzTx/>
                        <a:buFontTx/>
                        <a:buNone/>
                      </a:pPr>
                      <a:r>
                        <a:rPr lang="en-US" sz="1200" b="0">
                          <a:solidFill>
                            <a:srgbClr val="000000"/>
                          </a:solidFill>
                          <a:latin typeface="Calibri" charset="0"/>
                          <a:cs typeface="Calibri" charset="0"/>
                        </a:rPr>
                        <a:t>801</a:t>
                      </a:r>
                      <a:endParaRPr lang="en-US" sz="1200" b="0">
                        <a:solidFill>
                          <a:srgbClr val="000000"/>
                        </a:solidFill>
                        <a:latin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r>
              <a:tr h="274320">
                <a:tc>
                  <a:txBody>
                    <a:bodyPr/>
                    <a:p>
                      <a:pPr algn="l">
                        <a:buClrTx/>
                        <a:buSzTx/>
                        <a:buFontTx/>
                        <a:buNone/>
                      </a:pPr>
                      <a:r>
                        <a:rPr lang="en-US" sz="1200" b="0">
                          <a:solidFill>
                            <a:srgbClr val="000000"/>
                          </a:solidFill>
                          <a:latin typeface="Calibri" charset="0"/>
                          <a:cs typeface="Calibri" charset="0"/>
                        </a:rPr>
                        <a:t> </a:t>
                      </a:r>
                      <a:endParaRPr lang="en-US" sz="1200" b="0">
                        <a:solidFill>
                          <a:srgbClr val="000000"/>
                        </a:solidFill>
                        <a:latin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algn="l">
                        <a:buClrTx/>
                        <a:buSzTx/>
                        <a:buFontTx/>
                        <a:buNone/>
                      </a:pPr>
                      <a:r>
                        <a:rPr lang="en-US" sz="1200" b="0">
                          <a:solidFill>
                            <a:srgbClr val="000000"/>
                          </a:solidFill>
                          <a:latin typeface="Calibri" charset="0"/>
                          <a:cs typeface="Calibri" charset="0"/>
                        </a:rPr>
                        <a:t>Ethnic/migrant only</a:t>
                      </a:r>
                      <a:endParaRPr lang="en-US" sz="1200" b="0">
                        <a:solidFill>
                          <a:srgbClr val="000000"/>
                        </a:solidFill>
                        <a:latin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algn="l">
                        <a:buClrTx/>
                        <a:buSzTx/>
                        <a:buFontTx/>
                        <a:buNone/>
                      </a:pPr>
                      <a:r>
                        <a:rPr lang="en-US" sz="1200" b="0">
                          <a:solidFill>
                            <a:srgbClr val="000000"/>
                          </a:solidFill>
                          <a:latin typeface="Calibri" charset="0"/>
                          <a:cs typeface="Calibri" charset="0"/>
                        </a:rPr>
                        <a:t>3965</a:t>
                      </a:r>
                      <a:endParaRPr lang="en-US" sz="1200" b="0">
                        <a:solidFill>
                          <a:srgbClr val="000000"/>
                        </a:solidFill>
                        <a:latin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r>
              <a:tr h="274320">
                <a:tc>
                  <a:txBody>
                    <a:bodyPr/>
                    <a:p>
                      <a:pPr algn="l">
                        <a:buClrTx/>
                        <a:buSzTx/>
                        <a:buFontTx/>
                        <a:buNone/>
                      </a:pPr>
                      <a:r>
                        <a:rPr lang="en-US" sz="1200" b="0">
                          <a:solidFill>
                            <a:srgbClr val="000000"/>
                          </a:solidFill>
                          <a:latin typeface="Calibri" charset="0"/>
                          <a:cs typeface="Calibri" charset="0"/>
                        </a:rPr>
                        <a:t> </a:t>
                      </a:r>
                      <a:endParaRPr lang="en-US" sz="1200" b="0">
                        <a:solidFill>
                          <a:srgbClr val="000000"/>
                        </a:solidFill>
                        <a:latin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algn="l">
                        <a:buClrTx/>
                        <a:buSzTx/>
                        <a:buFontTx/>
                        <a:buNone/>
                      </a:pPr>
                      <a:r>
                        <a:rPr lang="en-US" sz="1200" b="0">
                          <a:solidFill>
                            <a:srgbClr val="000000"/>
                          </a:solidFill>
                          <a:latin typeface="Calibri" charset="0"/>
                          <a:cs typeface="Calibri" charset="0"/>
                        </a:rPr>
                        <a:t>Religious only</a:t>
                      </a:r>
                      <a:endParaRPr lang="en-US" sz="1200" b="0">
                        <a:solidFill>
                          <a:srgbClr val="000000"/>
                        </a:solidFill>
                        <a:latin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algn="l">
                        <a:buClrTx/>
                        <a:buSzTx/>
                        <a:buFontTx/>
                        <a:buNone/>
                      </a:pPr>
                      <a:r>
                        <a:rPr lang="en-US" sz="1200" b="0">
                          <a:solidFill>
                            <a:srgbClr val="000000"/>
                          </a:solidFill>
                          <a:latin typeface="Calibri" charset="0"/>
                          <a:cs typeface="Calibri" charset="0"/>
                        </a:rPr>
                        <a:t>2572</a:t>
                      </a:r>
                      <a:endParaRPr lang="en-US" sz="1200" b="0">
                        <a:solidFill>
                          <a:srgbClr val="000000"/>
                        </a:solidFill>
                        <a:latin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r>
              <a:tr h="274320">
                <a:tc>
                  <a:txBody>
                    <a:bodyPr/>
                    <a:p>
                      <a:pPr algn="l">
                        <a:buClrTx/>
                        <a:buSzTx/>
                        <a:buFontTx/>
                        <a:buNone/>
                      </a:pPr>
                      <a:r>
                        <a:rPr lang="en-US" sz="1200" b="0">
                          <a:solidFill>
                            <a:srgbClr val="000000"/>
                          </a:solidFill>
                          <a:latin typeface="Calibri" charset="0"/>
                          <a:cs typeface="Calibri" charset="0"/>
                        </a:rPr>
                        <a:t> </a:t>
                      </a:r>
                      <a:endParaRPr lang="en-US" sz="1200" b="0">
                        <a:solidFill>
                          <a:srgbClr val="000000"/>
                        </a:solidFill>
                        <a:latin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algn="l">
                        <a:buClrTx/>
                        <a:buSzTx/>
                        <a:buFontTx/>
                        <a:buNone/>
                      </a:pPr>
                      <a:r>
                        <a:rPr lang="en-US" sz="1200" b="0">
                          <a:solidFill>
                            <a:srgbClr val="000000"/>
                          </a:solidFill>
                          <a:latin typeface="Calibri" charset="0"/>
                          <a:cs typeface="Calibri" charset="0"/>
                        </a:rPr>
                        <a:t>Disability only</a:t>
                      </a:r>
                      <a:endParaRPr lang="en-US" sz="1200" b="0">
                        <a:solidFill>
                          <a:srgbClr val="000000"/>
                        </a:solidFill>
                        <a:latin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algn="l">
                        <a:buClrTx/>
                        <a:buSzTx/>
                        <a:buFontTx/>
                        <a:buNone/>
                      </a:pPr>
                      <a:r>
                        <a:rPr lang="en-US" sz="1200" b="0">
                          <a:solidFill>
                            <a:srgbClr val="000000"/>
                          </a:solidFill>
                          <a:latin typeface="Calibri" charset="0"/>
                          <a:cs typeface="Calibri" charset="0"/>
                        </a:rPr>
                        <a:t>8869</a:t>
                      </a:r>
                      <a:endParaRPr lang="en-US" sz="1200" b="0">
                        <a:solidFill>
                          <a:srgbClr val="000000"/>
                        </a:solidFill>
                        <a:latin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r>
              <a:tr h="274955">
                <a:tc>
                  <a:txBody>
                    <a:bodyPr/>
                    <a:p>
                      <a:pPr algn="l">
                        <a:buClrTx/>
                        <a:buSzTx/>
                        <a:buFontTx/>
                        <a:buNone/>
                      </a:pPr>
                      <a:r>
                        <a:rPr lang="en-US" sz="1200" b="0">
                          <a:solidFill>
                            <a:srgbClr val="000000"/>
                          </a:solidFill>
                          <a:latin typeface="Calibri" charset="0"/>
                          <a:cs typeface="Calibri" charset="0"/>
                        </a:rPr>
                        <a:t> </a:t>
                      </a:r>
                      <a:endParaRPr lang="en-US" sz="1200" b="0">
                        <a:solidFill>
                          <a:srgbClr val="000000"/>
                        </a:solidFill>
                        <a:latin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algn="l">
                        <a:buClrTx/>
                        <a:buSzTx/>
                        <a:buFontTx/>
                        <a:buNone/>
                      </a:pPr>
                      <a:r>
                        <a:rPr lang="en-US" sz="1200" b="0">
                          <a:solidFill>
                            <a:srgbClr val="000000"/>
                          </a:solidFill>
                          <a:latin typeface="Calibri" charset="0"/>
                          <a:cs typeface="Calibri" charset="0"/>
                        </a:rPr>
                        <a:t>Refugee/Asylum seeker</a:t>
                      </a:r>
                      <a:endParaRPr lang="en-US" sz="1200" b="0">
                        <a:solidFill>
                          <a:srgbClr val="000000"/>
                        </a:solidFill>
                        <a:latin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algn="l">
                        <a:buClrTx/>
                        <a:buSzTx/>
                        <a:buFontTx/>
                        <a:buNone/>
                      </a:pPr>
                      <a:r>
                        <a:rPr lang="en-US" sz="1200" b="0">
                          <a:solidFill>
                            <a:srgbClr val="000000"/>
                          </a:solidFill>
                          <a:latin typeface="Calibri" charset="0"/>
                          <a:cs typeface="Calibri" charset="0"/>
                        </a:rPr>
                        <a:t>320</a:t>
                      </a:r>
                      <a:endParaRPr lang="en-US" sz="1200" b="0">
                        <a:solidFill>
                          <a:srgbClr val="000000"/>
                        </a:solidFill>
                        <a:latin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r>
              <a:tr h="274320">
                <a:tc>
                  <a:txBody>
                    <a:bodyPr/>
                    <a:p>
                      <a:pPr algn="l">
                        <a:buClrTx/>
                        <a:buSzTx/>
                        <a:buFontTx/>
                        <a:buNone/>
                      </a:pPr>
                      <a:r>
                        <a:rPr lang="en-US" sz="1200" b="0">
                          <a:solidFill>
                            <a:srgbClr val="000000"/>
                          </a:solidFill>
                          <a:latin typeface="Calibri" charset="0"/>
                          <a:cs typeface="Calibri" charset="0"/>
                        </a:rPr>
                        <a:t> </a:t>
                      </a:r>
                      <a:endParaRPr lang="en-US" sz="1200" b="0">
                        <a:solidFill>
                          <a:srgbClr val="000000"/>
                        </a:solidFill>
                        <a:latin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algn="l">
                        <a:buClrTx/>
                        <a:buSzTx/>
                        <a:buFontTx/>
                        <a:buNone/>
                      </a:pPr>
                      <a:r>
                        <a:rPr lang="en-US" sz="1200" b="0">
                          <a:solidFill>
                            <a:srgbClr val="000000"/>
                          </a:solidFill>
                          <a:latin typeface="Calibri" charset="0"/>
                          <a:cs typeface="Calibri" charset="0"/>
                        </a:rPr>
                        <a:t>Multiple minorities</a:t>
                      </a:r>
                      <a:endParaRPr lang="en-US" sz="1200" b="0">
                        <a:solidFill>
                          <a:srgbClr val="000000"/>
                        </a:solidFill>
                        <a:latin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c>
                  <a:txBody>
                    <a:bodyPr/>
                    <a:p>
                      <a:pPr algn="l">
                        <a:buClrTx/>
                        <a:buSzTx/>
                        <a:buFontTx/>
                        <a:buNone/>
                      </a:pPr>
                      <a:r>
                        <a:rPr lang="en-US" sz="1200" b="0">
                          <a:solidFill>
                            <a:srgbClr val="000000"/>
                          </a:solidFill>
                          <a:latin typeface="Calibri" charset="0"/>
                          <a:cs typeface="Calibri" charset="0"/>
                        </a:rPr>
                        <a:t>2989</a:t>
                      </a:r>
                      <a:endParaRPr lang="en-US" sz="1200" b="0">
                        <a:solidFill>
                          <a:srgbClr val="000000"/>
                        </a:solidFill>
                        <a:latin typeface="Calibri" charset="0"/>
                        <a:cs typeface="Calibri" charset="0"/>
                      </a:endParaRPr>
                    </a:p>
                  </a:txBody>
                  <a:tcPr marL="68580" marR="68580" marT="0" marB="0" vert="horz" anchor="ctr" anchorCtr="0">
                    <a:lnL>
                      <a:noFill/>
                    </a:lnL>
                    <a:lnR>
                      <a:noFill/>
                    </a:lnR>
                    <a:lnT cap="flat">
                      <a:noFill/>
                    </a:lnT>
                    <a:lnB cap="flat">
                      <a:noFill/>
                    </a:lnB>
                    <a:lnTlToBr>
                      <a:noFill/>
                    </a:lnTlToBr>
                    <a:lnBlToTr>
                      <a:noFill/>
                    </a:lnBlToTr>
                    <a:noFill/>
                  </a:tcPr>
                </a:tc>
              </a:tr>
              <a:tr h="370205">
                <a:tc>
                  <a:txBody>
                    <a:bodyPr/>
                    <a:p>
                      <a:pPr algn="l">
                        <a:buClrTx/>
                        <a:buSzTx/>
                        <a:buFontTx/>
                        <a:buNone/>
                      </a:pPr>
                      <a:r>
                        <a:rPr lang="en-US" sz="1200" b="0">
                          <a:solidFill>
                            <a:srgbClr val="000000"/>
                          </a:solidFill>
                          <a:latin typeface="Calibri" charset="0"/>
                          <a:cs typeface="Calibri" charset="0"/>
                        </a:rPr>
                        <a:t> </a:t>
                      </a:r>
                      <a:endParaRPr lang="en-US" sz="1200" b="0">
                        <a:solidFill>
                          <a:srgbClr val="000000"/>
                        </a:solidFill>
                        <a:latin typeface="Calibri" charset="0"/>
                        <a:cs typeface="Calibri" charset="0"/>
                      </a:endParaRPr>
                    </a:p>
                  </a:txBody>
                  <a:tcPr marL="68580" marR="68580" marT="0" marB="0" vert="horz" anchor="ctr" anchorCtr="0">
                    <a:lnL>
                      <a:noFill/>
                    </a:lnL>
                    <a:lnR>
                      <a:noFill/>
                    </a:lnR>
                    <a:lnT cap="flat">
                      <a:noFill/>
                    </a:lnT>
                    <a:lnB w="12700" cap="flat">
                      <a:solidFill>
                        <a:schemeClr val="tx1"/>
                      </a:solidFill>
                      <a:prstDash val="solid"/>
                    </a:lnB>
                    <a:lnTlToBr>
                      <a:noFill/>
                    </a:lnTlToBr>
                    <a:lnBlToTr>
                      <a:noFill/>
                    </a:lnBlToTr>
                    <a:noFill/>
                  </a:tcPr>
                </a:tc>
                <a:tc>
                  <a:txBody>
                    <a:bodyPr/>
                    <a:p>
                      <a:pPr algn="l">
                        <a:buClrTx/>
                        <a:buSzTx/>
                        <a:buFontTx/>
                        <a:buNone/>
                      </a:pPr>
                      <a:r>
                        <a:rPr lang="en-US" sz="1200" b="0">
                          <a:solidFill>
                            <a:srgbClr val="000000"/>
                          </a:solidFill>
                          <a:latin typeface="Calibri" charset="0"/>
                          <a:cs typeface="Calibri" charset="0"/>
                        </a:rPr>
                        <a:t>Other minority</a:t>
                      </a:r>
                      <a:endParaRPr lang="en-US" sz="1200" b="0">
                        <a:solidFill>
                          <a:srgbClr val="000000"/>
                        </a:solidFill>
                        <a:latin typeface="Calibri" charset="0"/>
                        <a:cs typeface="Calibri" charset="0"/>
                      </a:endParaRPr>
                    </a:p>
                  </a:txBody>
                  <a:tcPr marL="68580" marR="68580" marT="0" marB="0" vert="horz" anchor="ctr" anchorCtr="0">
                    <a:lnL>
                      <a:noFill/>
                    </a:lnL>
                    <a:lnR>
                      <a:noFill/>
                    </a:lnR>
                    <a:lnT cap="flat">
                      <a:noFill/>
                    </a:lnT>
                    <a:lnB w="12700" cap="flat">
                      <a:solidFill>
                        <a:schemeClr val="tx1"/>
                      </a:solidFill>
                      <a:prstDash val="solid"/>
                    </a:lnB>
                    <a:lnTlToBr>
                      <a:noFill/>
                    </a:lnTlToBr>
                    <a:lnBlToTr>
                      <a:noFill/>
                    </a:lnBlToTr>
                    <a:noFill/>
                  </a:tcPr>
                </a:tc>
                <a:tc>
                  <a:txBody>
                    <a:bodyPr/>
                    <a:p>
                      <a:pPr algn="l">
                        <a:buClrTx/>
                        <a:buSzTx/>
                        <a:buFontTx/>
                        <a:buNone/>
                      </a:pPr>
                      <a:r>
                        <a:rPr lang="en-US" sz="1200" b="0">
                          <a:solidFill>
                            <a:srgbClr val="000000"/>
                          </a:solidFill>
                          <a:latin typeface="Calibri" charset="0"/>
                          <a:cs typeface="Calibri" charset="0"/>
                        </a:rPr>
                        <a:t>4262</a:t>
                      </a:r>
                      <a:endParaRPr lang="en-US" sz="1200" b="0">
                        <a:solidFill>
                          <a:srgbClr val="000000"/>
                        </a:solidFill>
                        <a:latin typeface="Calibri" charset="0"/>
                        <a:cs typeface="Calibri" charset="0"/>
                      </a:endParaRPr>
                    </a:p>
                  </a:txBody>
                  <a:tcPr marL="68580" marR="68580" marT="0" marB="0" vert="horz" anchor="ctr" anchorCtr="0">
                    <a:lnL>
                      <a:noFill/>
                    </a:lnL>
                    <a:lnR>
                      <a:noFill/>
                    </a:lnR>
                    <a:lnT cap="flat">
                      <a:noFill/>
                    </a:lnT>
                    <a:lnB w="12700" cap="flat">
                      <a:solidFill>
                        <a:schemeClr val="tx1"/>
                      </a:solidFill>
                      <a:prstDash val="solid"/>
                    </a:lnB>
                    <a:lnTlToBr>
                      <a:noFill/>
                    </a:lnTlToBr>
                    <a:lnBlToTr>
                      <a:noFill/>
                    </a:lnBlToTr>
                    <a:no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33070" y="554990"/>
            <a:ext cx="10515600" cy="1325563"/>
          </a:xfrm>
        </p:spPr>
        <p:txBody>
          <a:bodyPr/>
          <a:p>
            <a:r>
              <a:rPr lang="en-US" altLang="zh-CN" b="1"/>
              <a:t>Independent Variables</a:t>
            </a:r>
            <a:endParaRPr lang="en-US" altLang="zh-CN" b="1"/>
          </a:p>
        </p:txBody>
      </p:sp>
      <p:sp>
        <p:nvSpPr>
          <p:cNvPr id="3" name="文本框 2"/>
          <p:cNvSpPr txBox="1"/>
          <p:nvPr/>
        </p:nvSpPr>
        <p:spPr>
          <a:xfrm>
            <a:off x="-2327910" y="1554480"/>
            <a:ext cx="10811510" cy="4271645"/>
          </a:xfrm>
          <a:prstGeom prst="rect">
            <a:avLst/>
          </a:prstGeom>
          <a:noFill/>
        </p:spPr>
        <p:txBody>
          <a:bodyPr wrap="square" rtlCol="0">
            <a:noAutofit/>
          </a:bodyPr>
          <a:p>
            <a:endParaRPr lang="zh-CN" altLang="en-US"/>
          </a:p>
        </p:txBody>
      </p:sp>
      <p:sp>
        <p:nvSpPr>
          <p:cNvPr id="4" name="内容占位符 3"/>
          <p:cNvSpPr>
            <a:spLocks noGrp="1"/>
          </p:cNvSpPr>
          <p:nvPr>
            <p:ph idx="1"/>
            <p:custDataLst>
              <p:tags r:id="rId1"/>
            </p:custDataLst>
          </p:nvPr>
        </p:nvSpPr>
        <p:spPr>
          <a:xfrm>
            <a:off x="433070" y="1675765"/>
            <a:ext cx="5520055" cy="4940300"/>
          </a:xfrm>
        </p:spPr>
        <p:txBody>
          <a:bodyPr/>
          <a:p>
            <a:pPr marL="0" indent="0">
              <a:buNone/>
            </a:pPr>
            <a:r>
              <a:rPr lang="zh-CN" altLang="en-US" sz="1600" b="1">
                <a:solidFill>
                  <a:srgbClr val="7030A0"/>
                </a:solidFill>
              </a:rPr>
              <a:t>1. Demographics</a:t>
            </a:r>
            <a:endParaRPr lang="zh-CN" altLang="en-US" sz="1600" b="1">
              <a:solidFill>
                <a:srgbClr val="7030A0"/>
              </a:solidFill>
            </a:endParaRPr>
          </a:p>
          <a:p>
            <a:r>
              <a:rPr lang="zh-CN" altLang="en-US" sz="1600">
                <a:solidFill>
                  <a:schemeClr val="tx1"/>
                </a:solidFill>
              </a:rPr>
              <a:t>Age (Continuous)</a:t>
            </a:r>
            <a:endParaRPr lang="zh-CN" altLang="en-US" sz="1600">
              <a:solidFill>
                <a:schemeClr val="tx1"/>
              </a:solidFill>
            </a:endParaRPr>
          </a:p>
          <a:p>
            <a:r>
              <a:rPr lang="zh-CN" altLang="en-US" sz="1600">
                <a:solidFill>
                  <a:schemeClr val="tx1"/>
                </a:solidFill>
              </a:rPr>
              <a:t>Country (e.g., Germany, Finland, France, Albania)</a:t>
            </a:r>
            <a:endParaRPr lang="zh-CN" altLang="en-US" sz="1600">
              <a:solidFill>
                <a:schemeClr val="tx1"/>
              </a:solidFill>
            </a:endParaRPr>
          </a:p>
          <a:p>
            <a:r>
              <a:rPr lang="zh-CN" altLang="en-US" sz="1600">
                <a:solidFill>
                  <a:schemeClr val="tx1"/>
                </a:solidFill>
              </a:rPr>
              <a:t>Marital Status (Single, Married, Cohabiting, etc.)</a:t>
            </a:r>
            <a:endParaRPr lang="zh-CN" altLang="en-US" sz="1600">
              <a:solidFill>
                <a:schemeClr val="tx1"/>
              </a:solidFill>
            </a:endParaRPr>
          </a:p>
          <a:p>
            <a:r>
              <a:rPr lang="zh-CN" altLang="en-US" sz="1600">
                <a:solidFill>
                  <a:schemeClr val="tx1"/>
                </a:solidFill>
              </a:rPr>
              <a:t>Religion (Religious affiliation or none)</a:t>
            </a:r>
            <a:endParaRPr lang="zh-CN" altLang="en-US" sz="1600">
              <a:solidFill>
                <a:schemeClr val="tx1"/>
              </a:solidFill>
            </a:endParaRPr>
          </a:p>
          <a:p>
            <a:r>
              <a:rPr lang="zh-CN" altLang="en-US" sz="1600">
                <a:solidFill>
                  <a:schemeClr val="tx1"/>
                </a:solidFill>
              </a:rPr>
              <a:t>Education (Highest level attained)</a:t>
            </a:r>
            <a:endParaRPr lang="zh-CN" altLang="en-US" sz="1600">
              <a:solidFill>
                <a:schemeClr val="tx1"/>
              </a:solidFill>
            </a:endParaRPr>
          </a:p>
          <a:p>
            <a:endParaRPr lang="zh-CN" altLang="en-US" sz="1600">
              <a:solidFill>
                <a:schemeClr val="tx1"/>
              </a:solidFill>
            </a:endParaRPr>
          </a:p>
          <a:p>
            <a:pPr marL="0" algn="l">
              <a:buClrTx/>
              <a:buSzTx/>
              <a:buNone/>
            </a:pPr>
            <a:r>
              <a:rPr lang="zh-CN" altLang="en-US" sz="1600" b="1">
                <a:solidFill>
                  <a:srgbClr val="7030A0"/>
                </a:solidFill>
              </a:rPr>
              <a:t>2. Socioeconomic &amp; Living Conditions</a:t>
            </a:r>
            <a:endParaRPr lang="zh-CN" altLang="en-US" sz="1600" b="1">
              <a:solidFill>
                <a:srgbClr val="7030A0"/>
              </a:solidFill>
            </a:endParaRPr>
          </a:p>
          <a:p>
            <a:r>
              <a:rPr lang="zh-CN" altLang="en-US" sz="1600">
                <a:solidFill>
                  <a:schemeClr val="tx1"/>
                </a:solidFill>
              </a:rPr>
              <a:t>Residence (Urban vs. rural living situation)</a:t>
            </a:r>
            <a:endParaRPr lang="zh-CN" altLang="en-US" sz="1600">
              <a:solidFill>
                <a:schemeClr val="tx1"/>
              </a:solidFill>
            </a:endParaRPr>
          </a:p>
          <a:p>
            <a:r>
              <a:rPr lang="zh-CN" altLang="en-US" sz="1600">
                <a:solidFill>
                  <a:schemeClr val="tx1"/>
                </a:solidFill>
              </a:rPr>
              <a:t>Location Comfort (Perceived safety in one's residence)</a:t>
            </a:r>
            <a:endParaRPr lang="zh-CN" altLang="en-US" sz="1600">
              <a:solidFill>
                <a:schemeClr val="tx1"/>
              </a:solidFill>
            </a:endParaRPr>
          </a:p>
          <a:p>
            <a:r>
              <a:rPr lang="zh-CN" altLang="en-US" sz="1600">
                <a:solidFill>
                  <a:schemeClr val="tx1"/>
                </a:solidFill>
              </a:rPr>
              <a:t>Health Status (Self-reported general health)</a:t>
            </a:r>
            <a:endParaRPr lang="zh-CN" altLang="en-US" sz="1600">
              <a:solidFill>
                <a:schemeClr val="tx1"/>
              </a:solidFill>
            </a:endParaRPr>
          </a:p>
          <a:p>
            <a:r>
              <a:rPr lang="zh-CN" altLang="en-US" sz="1600">
                <a:solidFill>
                  <a:schemeClr val="tx1"/>
                </a:solidFill>
              </a:rPr>
              <a:t>Life Satisfaction (Self-reported well-being)</a:t>
            </a:r>
            <a:endParaRPr lang="zh-CN" altLang="en-US" sz="1600">
              <a:solidFill>
                <a:schemeClr val="tx1"/>
              </a:solidFill>
            </a:endParaRPr>
          </a:p>
        </p:txBody>
      </p:sp>
      <p:sp>
        <p:nvSpPr>
          <p:cNvPr id="10" name="矩形 9"/>
          <p:cNvSpPr/>
          <p:nvPr/>
        </p:nvSpPr>
        <p:spPr>
          <a:xfrm>
            <a:off x="6261100" y="2261235"/>
            <a:ext cx="5520055" cy="2858135"/>
          </a:xfrm>
          <a:prstGeom prst="rect">
            <a:avLst/>
          </a:prstGeom>
        </p:spPr>
        <p:txBody>
          <a:bodyPr vert="horz" wrap="square" lIns="91440" tIns="45720" rIns="91440" bIns="45720" rtlCol="0" anchor="t">
            <a:normAutofit/>
          </a:bodyPr>
          <a:p>
            <a:pPr lvl="0" algn="l">
              <a:lnSpc>
                <a:spcPct val="90000"/>
              </a:lnSpc>
              <a:spcBef>
                <a:spcPts val="1000"/>
              </a:spcBef>
              <a:buClrTx/>
              <a:buSzTx/>
              <a:buFont typeface="Arial" panose="020B0604020202090204" pitchFamily="34" charset="0"/>
            </a:pPr>
            <a:r>
              <a:rPr lang="zh-CN" altLang="en-US" sz="1600" b="1">
                <a:solidFill>
                  <a:srgbClr val="7030A0"/>
                </a:solidFill>
                <a:sym typeface="+mn-ea"/>
              </a:rPr>
              <a:t>3. Identity &amp; Social Experience</a:t>
            </a:r>
            <a:endParaRPr lang="zh-CN" altLang="en-US" sz="1600" b="1">
              <a:solidFill>
                <a:srgbClr val="7030A0"/>
              </a:solidFill>
              <a:sym typeface="+mn-ea"/>
            </a:endParaRPr>
          </a:p>
          <a:p>
            <a:pPr marL="285750" lvl="0" indent="-285750" algn="l">
              <a:lnSpc>
                <a:spcPct val="90000"/>
              </a:lnSpc>
              <a:spcBef>
                <a:spcPts val="1000"/>
              </a:spcBef>
              <a:buClrTx/>
              <a:buSzTx/>
              <a:buFont typeface="Arial" panose="020B0604020202090204" pitchFamily="34" charset="0"/>
              <a:buChar char="•"/>
            </a:pPr>
            <a:r>
              <a:rPr lang="zh-CN" altLang="en-US" sz="1600">
                <a:sym typeface="+mn-ea"/>
              </a:rPr>
              <a:t>Outness Mean (Degree of openness about identity)</a:t>
            </a:r>
            <a:endParaRPr lang="zh-CN" altLang="en-US" sz="1600">
              <a:sym typeface="+mn-ea"/>
            </a:endParaRPr>
          </a:p>
          <a:p>
            <a:pPr marL="285750" lvl="0" indent="-285750" algn="l">
              <a:lnSpc>
                <a:spcPct val="90000"/>
              </a:lnSpc>
              <a:spcBef>
                <a:spcPts val="1000"/>
              </a:spcBef>
              <a:buClrTx/>
              <a:buSzTx/>
              <a:buFont typeface="Arial" panose="020B0604020202090204" pitchFamily="34" charset="0"/>
              <a:buChar char="•"/>
            </a:pPr>
            <a:r>
              <a:rPr lang="zh-CN" altLang="en-US" sz="1600">
                <a:sym typeface="+mn-ea"/>
              </a:rPr>
              <a:t>Disclosure Locations (Safe places for identity disclosure)</a:t>
            </a:r>
            <a:endParaRPr lang="zh-CN" altLang="en-US" sz="1600">
              <a:sym typeface="+mn-ea"/>
            </a:endParaRPr>
          </a:p>
          <a:p>
            <a:pPr marL="285750" lvl="0" indent="-285750" algn="l">
              <a:lnSpc>
                <a:spcPct val="90000"/>
              </a:lnSpc>
              <a:spcBef>
                <a:spcPts val="1000"/>
              </a:spcBef>
              <a:buClrTx/>
              <a:buSzTx/>
              <a:buFont typeface="Arial" panose="020B0604020202090204" pitchFamily="34" charset="0"/>
              <a:buChar char="•"/>
            </a:pPr>
            <a:r>
              <a:rPr lang="zh-CN" altLang="en-US" sz="1600">
                <a:sym typeface="+mn-ea"/>
              </a:rPr>
              <a:t>Coming Out Age (Age of public identity disclosure)</a:t>
            </a:r>
            <a:endParaRPr lang="zh-CN" altLang="en-US" sz="1600">
              <a:sym typeface="+mn-ea"/>
            </a:endParaRPr>
          </a:p>
          <a:p>
            <a:pPr marL="285750" lvl="0" indent="-285750" algn="l">
              <a:lnSpc>
                <a:spcPct val="90000"/>
              </a:lnSpc>
              <a:spcBef>
                <a:spcPts val="1000"/>
              </a:spcBef>
              <a:buClrTx/>
              <a:buSzTx/>
              <a:buFont typeface="Arial" panose="020B0604020202090204" pitchFamily="34" charset="0"/>
              <a:buChar char="•"/>
            </a:pPr>
            <a:r>
              <a:rPr lang="zh-CN" altLang="en-US" sz="1600">
                <a:sym typeface="+mn-ea"/>
              </a:rPr>
              <a:t>PDA Comfort (Ease with public affection, indicating safety perception)</a:t>
            </a:r>
            <a:endParaRPr lang="zh-CN" altLang="en-US" sz="160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33070" y="353695"/>
            <a:ext cx="10515600" cy="1325563"/>
          </a:xfrm>
        </p:spPr>
        <p:txBody>
          <a:bodyPr>
            <a:normAutofit fontScale="90000"/>
          </a:bodyPr>
          <a:p>
            <a:r>
              <a:rPr lang="en-US" altLang="zh-CN" b="1">
                <a:sym typeface="+mn-ea"/>
              </a:rPr>
              <a:t>Dependent V</a:t>
            </a:r>
            <a:r>
              <a:rPr lang="en-US" altLang="zh-CN" b="1">
                <a:sym typeface="+mn-ea"/>
              </a:rPr>
              <a:t>ariable </a:t>
            </a:r>
            <a:r>
              <a:rPr lang="zh-CN" altLang="en-US" b="1">
                <a:sym typeface="+mn-ea"/>
              </a:rPr>
              <a:t>——</a:t>
            </a:r>
            <a:r>
              <a:rPr lang="en-US" altLang="zh-CN" b="1">
                <a:sym typeface="+mn-ea"/>
              </a:rPr>
              <a:t> Discrimination</a:t>
            </a:r>
            <a:endParaRPr lang="en-US" altLang="zh-CN" b="1">
              <a:sym typeface="+mn-ea"/>
            </a:endParaRPr>
          </a:p>
        </p:txBody>
      </p:sp>
      <p:sp>
        <p:nvSpPr>
          <p:cNvPr id="3" name="文本框 2"/>
          <p:cNvSpPr txBox="1"/>
          <p:nvPr/>
        </p:nvSpPr>
        <p:spPr>
          <a:xfrm>
            <a:off x="-2327910" y="1185545"/>
            <a:ext cx="10811510" cy="4271645"/>
          </a:xfrm>
          <a:prstGeom prst="rect">
            <a:avLst/>
          </a:prstGeom>
          <a:noFill/>
        </p:spPr>
        <p:txBody>
          <a:bodyPr wrap="square" rtlCol="0">
            <a:noAutofit/>
          </a:bodyPr>
          <a:p>
            <a:endParaRPr lang="zh-CN" altLang="en-US"/>
          </a:p>
        </p:txBody>
      </p:sp>
      <p:sp>
        <p:nvSpPr>
          <p:cNvPr id="4" name="内容占位符 3"/>
          <p:cNvSpPr>
            <a:spLocks noGrp="1"/>
          </p:cNvSpPr>
          <p:nvPr>
            <p:ph idx="1"/>
            <p:custDataLst>
              <p:tags r:id="rId1"/>
            </p:custDataLst>
          </p:nvPr>
        </p:nvSpPr>
        <p:spPr>
          <a:xfrm>
            <a:off x="509270" y="1529715"/>
            <a:ext cx="10961370" cy="5111750"/>
          </a:xfrm>
        </p:spPr>
        <p:txBody>
          <a:bodyPr>
            <a:normAutofit/>
          </a:bodyPr>
          <a:p>
            <a:pPr>
              <a:lnSpc>
                <a:spcPct val="150000"/>
              </a:lnSpc>
            </a:pPr>
            <a:r>
              <a:rPr lang="zh-CN" altLang="en-US" sz="2000">
                <a:solidFill>
                  <a:schemeClr val="tx1">
                    <a:lumMod val="95000"/>
                    <a:lumOff val="5000"/>
                  </a:schemeClr>
                </a:solidFill>
                <a:sym typeface="+mn-ea"/>
              </a:rPr>
              <a:t>Respondents were asked </a:t>
            </a:r>
            <a:r>
              <a:rPr lang="zh-CN" altLang="en-US" sz="2000" b="1">
                <a:solidFill>
                  <a:srgbClr val="7030A0"/>
                </a:solidFill>
                <a:sym typeface="+mn-ea"/>
              </a:rPr>
              <a:t>whether they personally felt discriminated</a:t>
            </a:r>
            <a:r>
              <a:rPr lang="zh-CN" altLang="en-US" sz="2000">
                <a:solidFill>
                  <a:schemeClr val="tx1">
                    <a:lumMod val="95000"/>
                    <a:lumOff val="5000"/>
                  </a:schemeClr>
                </a:solidFill>
                <a:sym typeface="+mn-ea"/>
              </a:rPr>
              <a:t> against because of their sexual orientation, gender identity, or intersex status</a:t>
            </a:r>
            <a:r>
              <a:rPr lang="zh-CN" altLang="en-US" sz="2000" b="1">
                <a:solidFill>
                  <a:srgbClr val="7030A0"/>
                </a:solidFill>
                <a:sym typeface="+mn-ea"/>
              </a:rPr>
              <a:t> in any of the following contexts</a:t>
            </a:r>
            <a:r>
              <a:rPr lang="zh-CN" altLang="en-US" sz="2000">
                <a:solidFill>
                  <a:schemeClr val="tx1">
                    <a:lumMod val="95000"/>
                    <a:lumOff val="5000"/>
                  </a:schemeClr>
                </a:solidFill>
                <a:sym typeface="+mn-ea"/>
              </a:rPr>
              <a:t> (multiple-choice question):</a:t>
            </a:r>
            <a:endParaRPr lang="zh-CN" altLang="en-US" sz="2000">
              <a:solidFill>
                <a:schemeClr val="tx1">
                  <a:lumMod val="95000"/>
                  <a:lumOff val="5000"/>
                </a:schemeClr>
              </a:solidFill>
              <a:sym typeface="+mn-ea"/>
            </a:endParaRPr>
          </a:p>
          <a:p>
            <a:pPr lvl="1">
              <a:lnSpc>
                <a:spcPct val="150000"/>
              </a:lnSpc>
            </a:pPr>
            <a:r>
              <a:rPr lang="zh-CN" altLang="en-US" sz="1710">
                <a:solidFill>
                  <a:schemeClr val="tx1">
                    <a:lumMod val="95000"/>
                    <a:lumOff val="5000"/>
                  </a:schemeClr>
                </a:solidFill>
                <a:sym typeface="+mn-ea"/>
              </a:rPr>
              <a:t>Employment: When looking for a job or at work</a:t>
            </a:r>
            <a:endParaRPr lang="zh-CN" altLang="en-US" sz="1710">
              <a:solidFill>
                <a:schemeClr val="tx1">
                  <a:lumMod val="95000"/>
                  <a:lumOff val="5000"/>
                </a:schemeClr>
              </a:solidFill>
              <a:sym typeface="+mn-ea"/>
            </a:endParaRPr>
          </a:p>
          <a:p>
            <a:pPr lvl="1">
              <a:lnSpc>
                <a:spcPct val="150000"/>
              </a:lnSpc>
            </a:pPr>
            <a:r>
              <a:rPr lang="zh-CN" altLang="en-US" sz="1710">
                <a:solidFill>
                  <a:schemeClr val="tx1">
                    <a:lumMod val="95000"/>
                    <a:lumOff val="5000"/>
                  </a:schemeClr>
                </a:solidFill>
                <a:sym typeface="+mn-ea"/>
              </a:rPr>
              <a:t>Housing: When looking for a house or apartment to rent or buy</a:t>
            </a:r>
            <a:endParaRPr lang="zh-CN" altLang="en-US" sz="1710">
              <a:solidFill>
                <a:schemeClr val="tx1">
                  <a:lumMod val="95000"/>
                  <a:lumOff val="5000"/>
                </a:schemeClr>
              </a:solidFill>
              <a:sym typeface="+mn-ea"/>
            </a:endParaRPr>
          </a:p>
          <a:p>
            <a:pPr lvl="1">
              <a:lnSpc>
                <a:spcPct val="150000"/>
              </a:lnSpc>
            </a:pPr>
            <a:r>
              <a:rPr lang="zh-CN" altLang="en-US" sz="1710">
                <a:solidFill>
                  <a:schemeClr val="tx1">
                    <a:lumMod val="95000"/>
                    <a:lumOff val="5000"/>
                  </a:schemeClr>
                </a:solidFill>
                <a:sym typeface="+mn-ea"/>
              </a:rPr>
              <a:t>Healthcare: By healthcare or social services personnel</a:t>
            </a:r>
            <a:endParaRPr lang="zh-CN" altLang="en-US" sz="1710">
              <a:solidFill>
                <a:schemeClr val="tx1">
                  <a:lumMod val="95000"/>
                  <a:lumOff val="5000"/>
                </a:schemeClr>
              </a:solidFill>
              <a:sym typeface="+mn-ea"/>
            </a:endParaRPr>
          </a:p>
          <a:p>
            <a:pPr lvl="1">
              <a:lnSpc>
                <a:spcPct val="150000"/>
              </a:lnSpc>
            </a:pPr>
            <a:r>
              <a:rPr lang="zh-CN" altLang="en-US" sz="1710">
                <a:solidFill>
                  <a:schemeClr val="tx1">
                    <a:lumMod val="95000"/>
                    <a:lumOff val="5000"/>
                  </a:schemeClr>
                </a:solidFill>
                <a:sym typeface="+mn-ea"/>
              </a:rPr>
              <a:t>Education: By school or university personnel, as a student or parent</a:t>
            </a:r>
            <a:endParaRPr lang="zh-CN" altLang="en-US" sz="1710">
              <a:solidFill>
                <a:schemeClr val="tx1">
                  <a:lumMod val="95000"/>
                  <a:lumOff val="5000"/>
                </a:schemeClr>
              </a:solidFill>
              <a:sym typeface="+mn-ea"/>
            </a:endParaRPr>
          </a:p>
          <a:p>
            <a:pPr lvl="1">
              <a:lnSpc>
                <a:spcPct val="150000"/>
              </a:lnSpc>
            </a:pPr>
            <a:r>
              <a:rPr lang="zh-CN" altLang="en-US" sz="1710">
                <a:solidFill>
                  <a:schemeClr val="tx1">
                    <a:lumMod val="95000"/>
                    <a:lumOff val="5000"/>
                  </a:schemeClr>
                </a:solidFill>
                <a:sym typeface="+mn-ea"/>
              </a:rPr>
              <a:t>Public Spaces &amp; Services: At a café, restaurant, bar, nightclub, or shop</a:t>
            </a:r>
            <a:endParaRPr lang="zh-CN" altLang="en-US" sz="1710">
              <a:solidFill>
                <a:schemeClr val="tx1">
                  <a:lumMod val="95000"/>
                  <a:lumOff val="5000"/>
                </a:schemeClr>
              </a:solidFill>
              <a:sym typeface="+mn-ea"/>
            </a:endParaRPr>
          </a:p>
          <a:p>
            <a:pPr lvl="1">
              <a:lnSpc>
                <a:spcPct val="150000"/>
              </a:lnSpc>
            </a:pPr>
            <a:r>
              <a:rPr lang="zh-CN" altLang="en-US" sz="1710">
                <a:solidFill>
                  <a:schemeClr val="tx1">
                    <a:lumMod val="95000"/>
                    <a:lumOff val="5000"/>
                  </a:schemeClr>
                </a:solidFill>
                <a:sym typeface="+mn-ea"/>
              </a:rPr>
              <a:t>Government &amp; Bureaucracy: In contact with administrative offices or public services, or when showing an ID or official document</a:t>
            </a:r>
            <a:endParaRPr lang="zh-CN" altLang="en-US" sz="1710">
              <a:solidFill>
                <a:schemeClr val="tx1">
                  <a:lumMod val="95000"/>
                  <a:lumOff val="5000"/>
                </a:schemeClr>
              </a:solidFill>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33070" y="391160"/>
            <a:ext cx="10515600" cy="1325563"/>
          </a:xfrm>
        </p:spPr>
        <p:txBody>
          <a:bodyPr/>
          <a:p>
            <a:r>
              <a:rPr lang="en-US" altLang="zh-CN" b="1">
                <a:latin typeface="+mn-lt"/>
                <a:cs typeface="+mn-lt"/>
                <a:sym typeface="+mn-ea"/>
              </a:rPr>
              <a:t>Factor A</a:t>
            </a:r>
            <a:r>
              <a:rPr lang="en-US" altLang="zh-CN" b="1">
                <a:latin typeface="+mn-lt"/>
                <a:cs typeface="+mn-lt"/>
                <a:sym typeface="+mn-ea"/>
              </a:rPr>
              <a:t>nalysis </a:t>
            </a:r>
            <a:r>
              <a:rPr lang="zh-CN" altLang="en-US" b="1">
                <a:latin typeface="+mn-lt"/>
                <a:cs typeface="+mn-lt"/>
                <a:sym typeface="+mn-ea"/>
              </a:rPr>
              <a:t>——</a:t>
            </a:r>
            <a:r>
              <a:rPr lang="en-US" altLang="zh-CN" b="1">
                <a:latin typeface="+mn-lt"/>
                <a:cs typeface="+mn-lt"/>
                <a:sym typeface="+mn-ea"/>
              </a:rPr>
              <a:t> Discrimination</a:t>
            </a:r>
            <a:endParaRPr lang="en-US" altLang="zh-CN" b="1">
              <a:latin typeface="+mn-lt"/>
              <a:cs typeface="+mn-lt"/>
              <a:sym typeface="+mn-ea"/>
            </a:endParaRPr>
          </a:p>
        </p:txBody>
      </p:sp>
      <p:sp>
        <p:nvSpPr>
          <p:cNvPr id="3" name="文本框 2"/>
          <p:cNvSpPr txBox="1"/>
          <p:nvPr/>
        </p:nvSpPr>
        <p:spPr>
          <a:xfrm>
            <a:off x="-2327910" y="1441450"/>
            <a:ext cx="10811510" cy="4271645"/>
          </a:xfrm>
          <a:prstGeom prst="rect">
            <a:avLst/>
          </a:prstGeom>
          <a:noFill/>
        </p:spPr>
        <p:txBody>
          <a:bodyPr wrap="square" rtlCol="0">
            <a:noAutofit/>
          </a:bodyPr>
          <a:p>
            <a:endParaRPr lang="zh-CN" altLang="en-US"/>
          </a:p>
        </p:txBody>
      </p:sp>
      <p:pic>
        <p:nvPicPr>
          <p:cNvPr id="7" name="图片 7" descr="截屏2025-03-11 18.19.53"/>
          <p:cNvPicPr>
            <a:picLocks noChangeAspect="1"/>
          </p:cNvPicPr>
          <p:nvPr>
            <p:custDataLst>
              <p:tags r:id="rId1"/>
            </p:custDataLst>
          </p:nvPr>
        </p:nvPicPr>
        <p:blipFill>
          <a:blip r:embed="rId2"/>
          <a:stretch>
            <a:fillRect/>
          </a:stretch>
        </p:blipFill>
        <p:spPr>
          <a:xfrm>
            <a:off x="6390640" y="2230120"/>
            <a:ext cx="5555615" cy="3468370"/>
          </a:xfrm>
          <a:prstGeom prst="rect">
            <a:avLst/>
          </a:prstGeom>
        </p:spPr>
      </p:pic>
      <p:pic>
        <p:nvPicPr>
          <p:cNvPr id="5" name="图片 6" descr="截屏2025-03-11 18.19.04"/>
          <p:cNvPicPr>
            <a:picLocks noChangeAspect="1"/>
          </p:cNvPicPr>
          <p:nvPr>
            <p:custDataLst>
              <p:tags r:id="rId3"/>
            </p:custDataLst>
          </p:nvPr>
        </p:nvPicPr>
        <p:blipFill>
          <a:blip r:embed="rId4"/>
          <a:stretch>
            <a:fillRect/>
          </a:stretch>
        </p:blipFill>
        <p:spPr>
          <a:xfrm>
            <a:off x="170180" y="1616075"/>
            <a:ext cx="5925820" cy="43516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1"/>
          <p:cNvPicPr>
            <a:picLocks noChangeAspect="1"/>
          </p:cNvPicPr>
          <p:nvPr>
            <p:ph idx="1"/>
            <p:custDataLst>
              <p:tags r:id="rId1"/>
            </p:custDataLst>
          </p:nvPr>
        </p:nvPicPr>
        <p:blipFill>
          <a:blip r:embed="rId2"/>
          <a:stretch>
            <a:fillRect/>
          </a:stretch>
        </p:blipFill>
        <p:spPr>
          <a:xfrm>
            <a:off x="2045335" y="1628775"/>
            <a:ext cx="7399020" cy="4548505"/>
          </a:xfrm>
          <a:prstGeom prst="rect">
            <a:avLst/>
          </a:prstGeom>
          <a:noFill/>
          <a:ln>
            <a:noFill/>
          </a:ln>
        </p:spPr>
      </p:pic>
      <p:sp>
        <p:nvSpPr>
          <p:cNvPr id="10" name="标题 1"/>
          <p:cNvSpPr>
            <a:spLocks noGrp="1"/>
          </p:cNvSpPr>
          <p:nvPr>
            <p:custDataLst>
              <p:tags r:id="rId3"/>
            </p:custDataLst>
          </p:nvPr>
        </p:nvSpPr>
        <p:spPr>
          <a:xfrm>
            <a:off x="293370" y="478790"/>
            <a:ext cx="11155045" cy="1325880"/>
          </a:xfrm>
          <a:prstGeom prst="rect">
            <a:avLst/>
          </a:prstGeom>
        </p:spPr>
        <p:txBody>
          <a:bodyPr vert="horz" lIns="91440" tIns="45720" rIns="91440" bIns="45720" rtlCol="0" anchor="ctr" anchorCtr="0">
            <a:normAutofit lnSpcReduction="10000"/>
          </a:bodyPr>
          <a:lstStyle>
            <a:lvl1pPr algn="l" defTabSz="914400" rtl="0" eaLnBrk="1" latinLnBrk="0" hangingPunct="1">
              <a:lnSpc>
                <a:spcPct val="90000"/>
              </a:lnSpc>
              <a:spcBef>
                <a:spcPct val="0"/>
              </a:spcBef>
              <a:buNone/>
              <a:defRPr sz="4400" b="0" kern="1200">
                <a:solidFill>
                  <a:schemeClr val="tx1"/>
                </a:solidFill>
                <a:effectLst/>
                <a:latin typeface="+mj-lt"/>
                <a:ea typeface="+mj-ea"/>
                <a:cs typeface="+mj-cs"/>
              </a:defRPr>
            </a:lvl1pPr>
          </a:lstStyle>
          <a:p>
            <a:r>
              <a:rPr lang="en-US" altLang="zh-CN" b="1">
                <a:sym typeface="+mn-ea"/>
              </a:rPr>
              <a:t>Feature E</a:t>
            </a:r>
            <a:r>
              <a:rPr lang="en-US" altLang="zh-CN" b="1">
                <a:sym typeface="+mn-ea"/>
              </a:rPr>
              <a:t>ngineering </a:t>
            </a:r>
            <a:r>
              <a:rPr lang="zh-CN" altLang="en-US" b="1">
                <a:sym typeface="+mn-ea"/>
              </a:rPr>
              <a:t>——</a:t>
            </a:r>
            <a:r>
              <a:rPr lang="en-US" altLang="zh-CN" b="1">
                <a:sym typeface="+mn-ea"/>
              </a:rPr>
              <a:t> Discrimination</a:t>
            </a:r>
            <a:endParaRPr lang="en-US" altLang="zh-CN" b="1">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2327910" y="1185545"/>
            <a:ext cx="10811510" cy="4271645"/>
          </a:xfrm>
          <a:prstGeom prst="rect">
            <a:avLst/>
          </a:prstGeom>
          <a:noFill/>
        </p:spPr>
        <p:txBody>
          <a:bodyPr wrap="square" rtlCol="0">
            <a:noAutofit/>
          </a:bodyPr>
          <a:p>
            <a:endParaRPr lang="zh-CN" altLang="en-US"/>
          </a:p>
        </p:txBody>
      </p:sp>
      <p:sp>
        <p:nvSpPr>
          <p:cNvPr id="4" name="内容占位符 3"/>
          <p:cNvSpPr>
            <a:spLocks noGrp="1"/>
          </p:cNvSpPr>
          <p:nvPr>
            <p:ph idx="1"/>
            <p:custDataLst>
              <p:tags r:id="rId1"/>
            </p:custDataLst>
          </p:nvPr>
        </p:nvSpPr>
        <p:spPr>
          <a:xfrm>
            <a:off x="647700" y="1604010"/>
            <a:ext cx="10961370" cy="5111750"/>
          </a:xfrm>
        </p:spPr>
        <p:txBody>
          <a:bodyPr>
            <a:normAutofit/>
          </a:bodyPr>
          <a:p>
            <a:pPr>
              <a:lnSpc>
                <a:spcPct val="100000"/>
              </a:lnSpc>
            </a:pPr>
            <a:r>
              <a:rPr lang="zh-CN" altLang="en-US" sz="2400">
                <a:solidFill>
                  <a:schemeClr val="tx1"/>
                </a:solidFill>
                <a:sym typeface="+mn-ea"/>
              </a:rPr>
              <a:t>In the last five years, how many times have you been </a:t>
            </a:r>
            <a:r>
              <a:rPr lang="zh-CN" altLang="en-US" sz="2400" b="1">
                <a:solidFill>
                  <a:srgbClr val="7030A0"/>
                </a:solidFill>
                <a:sym typeface="+mn-ea"/>
              </a:rPr>
              <a:t>physically or sexually attacked</a:t>
            </a:r>
            <a:r>
              <a:rPr lang="zh-CN" altLang="en-US" sz="2400">
                <a:solidFill>
                  <a:schemeClr val="tx1"/>
                </a:solidFill>
                <a:sym typeface="+mn-ea"/>
              </a:rPr>
              <a:t> at home or elsewhere (on the street, public transport, workplace, etc.) because you are LGBTIQ?</a:t>
            </a:r>
            <a:endParaRPr lang="zh-CN" altLang="en-US" sz="2400">
              <a:solidFill>
                <a:schemeClr val="tx1"/>
              </a:solidFill>
              <a:sym typeface="+mn-ea"/>
            </a:endParaRPr>
          </a:p>
          <a:p>
            <a:pPr lvl="1">
              <a:lnSpc>
                <a:spcPct val="100000"/>
              </a:lnSpc>
            </a:pPr>
            <a:endParaRPr lang="zh-CN" altLang="en-US" sz="1800">
              <a:solidFill>
                <a:schemeClr val="tx1"/>
              </a:solidFill>
              <a:sym typeface="+mn-ea"/>
            </a:endParaRPr>
          </a:p>
          <a:p>
            <a:pPr lvl="1">
              <a:lnSpc>
                <a:spcPct val="100000"/>
              </a:lnSpc>
            </a:pPr>
            <a:r>
              <a:rPr lang="zh-CN" altLang="en-US" sz="1800">
                <a:solidFill>
                  <a:schemeClr val="tx1"/>
                </a:solidFill>
                <a:sym typeface="+mn-ea"/>
              </a:rPr>
              <a:t>0 = Never</a:t>
            </a:r>
            <a:endParaRPr lang="zh-CN" altLang="en-US" sz="1800">
              <a:solidFill>
                <a:schemeClr val="tx1"/>
              </a:solidFill>
              <a:sym typeface="+mn-ea"/>
            </a:endParaRPr>
          </a:p>
          <a:p>
            <a:pPr lvl="1">
              <a:lnSpc>
                <a:spcPct val="100000"/>
              </a:lnSpc>
            </a:pPr>
            <a:r>
              <a:rPr lang="zh-CN" altLang="en-US" sz="1800">
                <a:solidFill>
                  <a:schemeClr val="tx1"/>
                </a:solidFill>
                <a:sym typeface="+mn-ea"/>
              </a:rPr>
              <a:t>1 = Once</a:t>
            </a:r>
            <a:endParaRPr lang="zh-CN" altLang="en-US" sz="1800">
              <a:solidFill>
                <a:schemeClr val="tx1"/>
              </a:solidFill>
              <a:sym typeface="+mn-ea"/>
            </a:endParaRPr>
          </a:p>
          <a:p>
            <a:pPr lvl="1">
              <a:lnSpc>
                <a:spcPct val="100000"/>
              </a:lnSpc>
            </a:pPr>
            <a:r>
              <a:rPr lang="zh-CN" altLang="en-US" sz="1800">
                <a:solidFill>
                  <a:schemeClr val="tx1"/>
                </a:solidFill>
                <a:sym typeface="+mn-ea"/>
              </a:rPr>
              <a:t>2 = Twice</a:t>
            </a:r>
            <a:endParaRPr lang="zh-CN" altLang="en-US" sz="1800">
              <a:solidFill>
                <a:schemeClr val="tx1"/>
              </a:solidFill>
              <a:sym typeface="+mn-ea"/>
            </a:endParaRPr>
          </a:p>
          <a:p>
            <a:pPr lvl="1">
              <a:lnSpc>
                <a:spcPct val="100000"/>
              </a:lnSpc>
            </a:pPr>
            <a:r>
              <a:rPr lang="zh-CN" altLang="en-US" sz="1800">
                <a:solidFill>
                  <a:schemeClr val="tx1"/>
                </a:solidFill>
                <a:sym typeface="+mn-ea"/>
              </a:rPr>
              <a:t>3 = 3–5 times</a:t>
            </a:r>
            <a:endParaRPr lang="zh-CN" altLang="en-US" sz="1800">
              <a:solidFill>
                <a:schemeClr val="tx1"/>
              </a:solidFill>
              <a:sym typeface="+mn-ea"/>
            </a:endParaRPr>
          </a:p>
          <a:p>
            <a:pPr lvl="1">
              <a:lnSpc>
                <a:spcPct val="100000"/>
              </a:lnSpc>
            </a:pPr>
            <a:r>
              <a:rPr lang="zh-CN" altLang="en-US" sz="1800">
                <a:solidFill>
                  <a:schemeClr val="tx1"/>
                </a:solidFill>
                <a:sym typeface="+mn-ea"/>
              </a:rPr>
              <a:t>4 = 6–10 times</a:t>
            </a:r>
            <a:endParaRPr lang="zh-CN" altLang="en-US" sz="1800">
              <a:solidFill>
                <a:schemeClr val="tx1"/>
              </a:solidFill>
              <a:sym typeface="+mn-ea"/>
            </a:endParaRPr>
          </a:p>
          <a:p>
            <a:pPr lvl="1">
              <a:lnSpc>
                <a:spcPct val="100000"/>
              </a:lnSpc>
            </a:pPr>
            <a:r>
              <a:rPr lang="zh-CN" altLang="en-US" sz="1800">
                <a:solidFill>
                  <a:schemeClr val="tx1"/>
                </a:solidFill>
                <a:sym typeface="+mn-ea"/>
              </a:rPr>
              <a:t>5 = More than 10 times</a:t>
            </a:r>
            <a:endParaRPr lang="zh-CN" altLang="en-US" sz="1800">
              <a:solidFill>
                <a:schemeClr val="tx1"/>
              </a:solidFill>
              <a:sym typeface="+mn-ea"/>
            </a:endParaRPr>
          </a:p>
          <a:p>
            <a:pPr lvl="1">
              <a:lnSpc>
                <a:spcPct val="100000"/>
              </a:lnSpc>
            </a:pPr>
            <a:r>
              <a:rPr lang="zh-CN" altLang="en-US" sz="1800">
                <a:solidFill>
                  <a:schemeClr val="tx1"/>
                </a:solidFill>
                <a:sym typeface="+mn-ea"/>
              </a:rPr>
              <a:t>6 = All of the time</a:t>
            </a:r>
            <a:endParaRPr lang="zh-CN" altLang="en-US" sz="1800">
              <a:solidFill>
                <a:schemeClr val="tx1"/>
              </a:solidFill>
              <a:sym typeface="+mn-ea"/>
            </a:endParaRPr>
          </a:p>
        </p:txBody>
      </p:sp>
      <p:sp>
        <p:nvSpPr>
          <p:cNvPr id="5" name="标题 1"/>
          <p:cNvSpPr>
            <a:spLocks noGrp="1"/>
          </p:cNvSpPr>
          <p:nvPr>
            <p:custDataLst>
              <p:tags r:id="rId2"/>
            </p:custDataLst>
          </p:nvPr>
        </p:nvSpPr>
        <p:spPr>
          <a:xfrm>
            <a:off x="433070" y="353695"/>
            <a:ext cx="10515600" cy="1325563"/>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b="0" kern="1200">
                <a:solidFill>
                  <a:schemeClr val="tx1"/>
                </a:solidFill>
                <a:effectLst/>
                <a:latin typeface="+mj-lt"/>
                <a:ea typeface="+mj-ea"/>
                <a:cs typeface="+mj-cs"/>
              </a:defRPr>
            </a:lvl1pPr>
          </a:lstStyle>
          <a:p>
            <a:r>
              <a:rPr lang="en-US" altLang="zh-CN" b="1">
                <a:sym typeface="+mn-ea"/>
              </a:rPr>
              <a:t>Dependent Variable </a:t>
            </a:r>
            <a:r>
              <a:rPr lang="zh-CN" altLang="en-US" b="1">
                <a:sym typeface="+mn-ea"/>
              </a:rPr>
              <a:t>——</a:t>
            </a:r>
            <a:r>
              <a:rPr lang="en-US" altLang="zh-CN" b="1">
                <a:sym typeface="+mn-ea"/>
              </a:rPr>
              <a:t> V</a:t>
            </a:r>
            <a:r>
              <a:rPr lang="en-US" altLang="zh-CN" b="1">
                <a:sym typeface="+mn-ea"/>
              </a:rPr>
              <a:t>iolence</a:t>
            </a:r>
            <a:endParaRPr lang="en-US" altLang="zh-CN" b="1">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2327910" y="1185545"/>
            <a:ext cx="10811510" cy="4271645"/>
          </a:xfrm>
          <a:prstGeom prst="rect">
            <a:avLst/>
          </a:prstGeom>
          <a:noFill/>
        </p:spPr>
        <p:txBody>
          <a:bodyPr wrap="square" rtlCol="0">
            <a:noAutofit/>
          </a:bodyPr>
          <a:p>
            <a:endParaRPr lang="zh-CN" altLang="en-US"/>
          </a:p>
        </p:txBody>
      </p:sp>
      <p:pic>
        <p:nvPicPr>
          <p:cNvPr id="10" name="图片 10" descr="截屏2025-03-11 19.19.23"/>
          <p:cNvPicPr>
            <a:picLocks noChangeAspect="1"/>
          </p:cNvPicPr>
          <p:nvPr>
            <p:custDataLst>
              <p:tags r:id="rId1"/>
            </p:custDataLst>
          </p:nvPr>
        </p:nvPicPr>
        <p:blipFill>
          <a:blip r:embed="rId2"/>
          <a:stretch>
            <a:fillRect/>
          </a:stretch>
        </p:blipFill>
        <p:spPr>
          <a:xfrm>
            <a:off x="512445" y="1780540"/>
            <a:ext cx="5130800" cy="4345940"/>
          </a:xfrm>
          <a:prstGeom prst="rect">
            <a:avLst/>
          </a:prstGeom>
        </p:spPr>
      </p:pic>
      <p:pic>
        <p:nvPicPr>
          <p:cNvPr id="11" name="图片 11" descr="截屏2025-03-11 19.21.29"/>
          <p:cNvPicPr>
            <a:picLocks noChangeAspect="1"/>
          </p:cNvPicPr>
          <p:nvPr>
            <p:custDataLst>
              <p:tags r:id="rId3"/>
            </p:custDataLst>
          </p:nvPr>
        </p:nvPicPr>
        <p:blipFill>
          <a:blip r:embed="rId4"/>
          <a:stretch>
            <a:fillRect/>
          </a:stretch>
        </p:blipFill>
        <p:spPr>
          <a:xfrm>
            <a:off x="6448425" y="2107565"/>
            <a:ext cx="5221605" cy="3691255"/>
          </a:xfrm>
          <a:prstGeom prst="rect">
            <a:avLst/>
          </a:prstGeom>
        </p:spPr>
      </p:pic>
      <p:sp>
        <p:nvSpPr>
          <p:cNvPr id="7" name="标题 1"/>
          <p:cNvSpPr>
            <a:spLocks noGrp="1"/>
          </p:cNvSpPr>
          <p:nvPr>
            <p:custDataLst>
              <p:tags r:id="rId5"/>
            </p:custDataLst>
          </p:nvPr>
        </p:nvSpPr>
        <p:spPr>
          <a:xfrm>
            <a:off x="293370" y="478790"/>
            <a:ext cx="11155045" cy="1325880"/>
          </a:xfrm>
          <a:prstGeom prst="rect">
            <a:avLst/>
          </a:prstGeom>
        </p:spPr>
        <p:txBody>
          <a:bodyPr vert="horz" lIns="91440" tIns="45720" rIns="91440" bIns="45720" rtlCol="0" anchor="ctr" anchorCtr="0">
            <a:normAutofit lnSpcReduction="10000"/>
          </a:bodyPr>
          <a:lstStyle>
            <a:lvl1pPr algn="l" defTabSz="914400" rtl="0" eaLnBrk="1" latinLnBrk="0" hangingPunct="1">
              <a:lnSpc>
                <a:spcPct val="90000"/>
              </a:lnSpc>
              <a:spcBef>
                <a:spcPct val="0"/>
              </a:spcBef>
              <a:buNone/>
              <a:defRPr sz="4400" b="0" kern="1200">
                <a:solidFill>
                  <a:schemeClr val="tx1"/>
                </a:solidFill>
                <a:effectLst/>
                <a:latin typeface="+mj-lt"/>
                <a:ea typeface="+mj-ea"/>
                <a:cs typeface="+mj-cs"/>
              </a:defRPr>
            </a:lvl1pPr>
          </a:lstStyle>
          <a:p>
            <a:r>
              <a:rPr lang="en-US" altLang="zh-CN" b="1">
                <a:sym typeface="+mn-ea"/>
              </a:rPr>
              <a:t>Feature Engineering </a:t>
            </a:r>
            <a:r>
              <a:rPr lang="zh-CN" altLang="en-US" b="1">
                <a:sym typeface="+mn-ea"/>
              </a:rPr>
              <a:t>——</a:t>
            </a:r>
            <a:r>
              <a:rPr lang="en-US" altLang="zh-CN" b="1">
                <a:sym typeface="+mn-ea"/>
              </a:rPr>
              <a:t> V</a:t>
            </a:r>
            <a:r>
              <a:rPr lang="en-US" altLang="zh-CN" b="1">
                <a:sym typeface="+mn-ea"/>
              </a:rPr>
              <a:t>iolence</a:t>
            </a:r>
            <a:endParaRPr lang="en-US" altLang="zh-CN" b="1">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81025" y="428625"/>
            <a:ext cx="10515600" cy="1325563"/>
          </a:xfrm>
        </p:spPr>
        <p:txBody>
          <a:bodyPr/>
          <a:p>
            <a:r>
              <a:rPr lang="en-US" altLang="zh-CN" b="1">
                <a:sym typeface="+mn-ea"/>
              </a:rPr>
              <a:t>Machine Learning Model </a:t>
            </a:r>
            <a:r>
              <a:rPr lang="zh-CN" altLang="en-US" b="1">
                <a:sym typeface="+mn-ea"/>
              </a:rPr>
              <a:t>——</a:t>
            </a:r>
            <a:r>
              <a:rPr lang="en-US" altLang="zh-CN" b="1">
                <a:sym typeface="+mn-ea"/>
              </a:rPr>
              <a:t> V</a:t>
            </a:r>
            <a:r>
              <a:rPr lang="en-US" altLang="zh-CN" b="1">
                <a:sym typeface="+mn-ea"/>
              </a:rPr>
              <a:t>iolence</a:t>
            </a:r>
            <a:endParaRPr lang="en-US" altLang="zh-CN" b="1">
              <a:sym typeface="+mn-ea"/>
            </a:endParaRPr>
          </a:p>
        </p:txBody>
      </p:sp>
      <p:sp>
        <p:nvSpPr>
          <p:cNvPr id="3" name="文本框 2"/>
          <p:cNvSpPr txBox="1"/>
          <p:nvPr/>
        </p:nvSpPr>
        <p:spPr>
          <a:xfrm>
            <a:off x="746760" y="1939290"/>
            <a:ext cx="5831205" cy="2979420"/>
          </a:xfrm>
          <a:prstGeom prst="rect">
            <a:avLst/>
          </a:prstGeom>
          <a:noFill/>
        </p:spPr>
        <p:txBody>
          <a:bodyPr wrap="square" rtlCol="0">
            <a:noAutofit/>
          </a:bodyPr>
          <a:p>
            <a:pPr marL="285750" indent="-285750">
              <a:lnSpc>
                <a:spcPct val="150000"/>
              </a:lnSpc>
              <a:buFont typeface="Arial" panose="020B0604020202090204" pitchFamily="34" charset="0"/>
              <a:buChar char="•"/>
            </a:pPr>
            <a:r>
              <a:rPr lang="en-US" altLang="zh-CN" sz="2000" b="1">
                <a:cs typeface="+mn-lt"/>
              </a:rPr>
              <a:t>Supervised Classification Problem</a:t>
            </a:r>
            <a:endParaRPr lang="en-US" altLang="zh-CN" sz="2000" b="1">
              <a:cs typeface="+mn-lt"/>
            </a:endParaRPr>
          </a:p>
          <a:p>
            <a:pPr marL="742950" lvl="1" indent="-285750">
              <a:lnSpc>
                <a:spcPct val="150000"/>
              </a:lnSpc>
              <a:buFont typeface="Arial" panose="020B0604020202090204" pitchFamily="34" charset="0"/>
              <a:buChar char="•"/>
            </a:pPr>
            <a:r>
              <a:rPr lang="en-US" altLang="zh-CN" sz="2000">
                <a:cs typeface="+mn-lt"/>
              </a:rPr>
              <a:t>Random Forest</a:t>
            </a:r>
            <a:endParaRPr lang="en-US" altLang="zh-CN" sz="2000">
              <a:cs typeface="+mn-lt"/>
            </a:endParaRPr>
          </a:p>
          <a:p>
            <a:pPr marL="742950" lvl="1" indent="-285750">
              <a:lnSpc>
                <a:spcPct val="150000"/>
              </a:lnSpc>
              <a:buFont typeface="Arial" panose="020B0604020202090204" pitchFamily="34" charset="0"/>
              <a:buChar char="•"/>
            </a:pPr>
            <a:r>
              <a:rPr lang="en-US" altLang="zh-CN" sz="2000">
                <a:cs typeface="+mn-lt"/>
              </a:rPr>
              <a:t>XGBoost</a:t>
            </a:r>
            <a:endParaRPr lang="en-US" altLang="zh-CN" sz="2000">
              <a:cs typeface="+mn-lt"/>
            </a:endParaRPr>
          </a:p>
          <a:p>
            <a:pPr marL="742950" lvl="1" indent="-285750">
              <a:lnSpc>
                <a:spcPct val="150000"/>
              </a:lnSpc>
              <a:buFont typeface="Arial" panose="020B0604020202090204" pitchFamily="34" charset="0"/>
              <a:buChar char="•"/>
            </a:pPr>
            <a:endParaRPr lang="en-US" altLang="zh-CN" sz="2000">
              <a:cs typeface="+mn-lt"/>
            </a:endParaRPr>
          </a:p>
          <a:p>
            <a:pPr marL="285750" indent="-285750">
              <a:lnSpc>
                <a:spcPct val="150000"/>
              </a:lnSpc>
              <a:buFont typeface="Arial" panose="020B0604020202090204" pitchFamily="34" charset="0"/>
              <a:buChar char="•"/>
            </a:pPr>
            <a:r>
              <a:rPr lang="en-US" altLang="zh-CN" sz="2000" b="1">
                <a:cs typeface="+mn-lt"/>
              </a:rPr>
              <a:t>Data Preprocess</a:t>
            </a:r>
            <a:r>
              <a:rPr lang="zh-CN" altLang="en-US" sz="2000">
                <a:cs typeface="+mn-lt"/>
              </a:rPr>
              <a:t>：</a:t>
            </a:r>
            <a:endParaRPr lang="zh-CN" altLang="en-US" sz="2000">
              <a:cs typeface="+mn-lt"/>
            </a:endParaRPr>
          </a:p>
          <a:p>
            <a:pPr marL="742950" lvl="1" indent="-285750">
              <a:lnSpc>
                <a:spcPct val="150000"/>
              </a:lnSpc>
              <a:buFont typeface="Arial" panose="020B0604020202090204" pitchFamily="34" charset="0"/>
              <a:buChar char="•"/>
            </a:pPr>
            <a:r>
              <a:rPr lang="zh-CN" altLang="en-US" sz="2000">
                <a:cs typeface="+mn-lt"/>
              </a:rPr>
              <a:t>70% training data and 30% test data.</a:t>
            </a:r>
            <a:endParaRPr lang="zh-CN" altLang="en-US" sz="2000">
              <a:cs typeface="+mn-lt"/>
            </a:endParaRPr>
          </a:p>
          <a:p>
            <a:pPr marL="742950" lvl="1" indent="-285750">
              <a:lnSpc>
                <a:spcPct val="150000"/>
              </a:lnSpc>
              <a:buFont typeface="Arial" panose="020B0604020202090204" pitchFamily="34" charset="0"/>
              <a:buChar char="•"/>
            </a:pPr>
            <a:r>
              <a:rPr lang="zh-CN" altLang="en-US" sz="2000">
                <a:cs typeface="+mn-lt"/>
              </a:rPr>
              <a:t>downsampling within the training data</a:t>
            </a:r>
            <a:endParaRPr lang="zh-CN" altLang="en-US" sz="2000">
              <a:cs typeface="+mn-lt"/>
            </a:endParaRPr>
          </a:p>
        </p:txBody>
      </p:sp>
      <p:pic>
        <p:nvPicPr>
          <p:cNvPr id="14" name="图片 14" descr="截屏2025-03-11 19.27.54"/>
          <p:cNvPicPr>
            <a:picLocks noChangeAspect="1"/>
          </p:cNvPicPr>
          <p:nvPr>
            <p:custDataLst>
              <p:tags r:id="rId1"/>
            </p:custDataLst>
          </p:nvPr>
        </p:nvPicPr>
        <p:blipFill>
          <a:blip r:embed="rId2"/>
          <a:stretch>
            <a:fillRect/>
          </a:stretch>
        </p:blipFill>
        <p:spPr>
          <a:xfrm>
            <a:off x="6778625" y="1830070"/>
            <a:ext cx="4711700" cy="390334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29260" y="407035"/>
            <a:ext cx="10515600" cy="1325563"/>
          </a:xfrm>
        </p:spPr>
        <p:txBody>
          <a:bodyPr/>
          <a:p>
            <a:r>
              <a:rPr lang="en-US" altLang="zh-CN" b="1">
                <a:sym typeface="+mn-ea"/>
              </a:rPr>
              <a:t>Random Forest </a:t>
            </a:r>
            <a:r>
              <a:rPr lang="zh-CN" altLang="en-US" b="1">
                <a:sym typeface="+mn-ea"/>
              </a:rPr>
              <a:t>——</a:t>
            </a:r>
            <a:r>
              <a:rPr lang="en-US" altLang="zh-CN" b="1">
                <a:sym typeface="+mn-ea"/>
              </a:rPr>
              <a:t> V</a:t>
            </a:r>
            <a:r>
              <a:rPr lang="en-US" altLang="zh-CN" b="1">
                <a:sym typeface="+mn-ea"/>
              </a:rPr>
              <a:t>iolence</a:t>
            </a:r>
            <a:endParaRPr lang="en-US" altLang="zh-CN" b="1">
              <a:sym typeface="+mn-ea"/>
            </a:endParaRPr>
          </a:p>
        </p:txBody>
      </p:sp>
      <p:pic>
        <p:nvPicPr>
          <p:cNvPr id="15" name="图片 15" descr="截屏2025-03-11 19.34.05"/>
          <p:cNvPicPr>
            <a:picLocks noChangeAspect="1"/>
          </p:cNvPicPr>
          <p:nvPr>
            <p:custDataLst>
              <p:tags r:id="rId1"/>
            </p:custDataLst>
          </p:nvPr>
        </p:nvPicPr>
        <p:blipFill>
          <a:blip r:embed="rId2"/>
          <a:stretch>
            <a:fillRect/>
          </a:stretch>
        </p:blipFill>
        <p:spPr>
          <a:xfrm>
            <a:off x="833755" y="1829435"/>
            <a:ext cx="3434715" cy="4333240"/>
          </a:xfrm>
          <a:prstGeom prst="rect">
            <a:avLst/>
          </a:prstGeom>
        </p:spPr>
      </p:pic>
      <p:pic>
        <p:nvPicPr>
          <p:cNvPr id="16" name="图片 16" descr="截屏2025-03-11 19.36.27"/>
          <p:cNvPicPr>
            <a:picLocks noChangeAspect="1"/>
          </p:cNvPicPr>
          <p:nvPr>
            <p:custDataLst>
              <p:tags r:id="rId3"/>
            </p:custDataLst>
          </p:nvPr>
        </p:nvPicPr>
        <p:blipFill>
          <a:blip r:embed="rId4"/>
          <a:stretch>
            <a:fillRect/>
          </a:stretch>
        </p:blipFill>
        <p:spPr>
          <a:xfrm>
            <a:off x="5160010" y="2410460"/>
            <a:ext cx="4659630" cy="284924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36220" y="299720"/>
            <a:ext cx="10515600" cy="1325563"/>
          </a:xfrm>
        </p:spPr>
        <p:txBody>
          <a:bodyPr/>
          <a:p>
            <a:r>
              <a:rPr lang="en-US" altLang="zh-CN" b="1">
                <a:sym typeface="+mn-ea"/>
              </a:rPr>
              <a:t>Random Forest </a:t>
            </a:r>
            <a:r>
              <a:rPr lang="zh-CN" altLang="en-US" b="1">
                <a:sym typeface="+mn-ea"/>
              </a:rPr>
              <a:t>——</a:t>
            </a:r>
            <a:r>
              <a:rPr lang="en-US" altLang="zh-CN" b="1">
                <a:sym typeface="+mn-ea"/>
              </a:rPr>
              <a:t> V</a:t>
            </a:r>
            <a:r>
              <a:rPr lang="en-US" altLang="zh-CN" b="1">
                <a:sym typeface="+mn-ea"/>
              </a:rPr>
              <a:t>iolence</a:t>
            </a:r>
            <a:endParaRPr lang="en-US" altLang="zh-CN" b="1">
              <a:sym typeface="+mn-ea"/>
            </a:endParaRPr>
          </a:p>
        </p:txBody>
      </p:sp>
      <p:pic>
        <p:nvPicPr>
          <p:cNvPr id="17" name="图片 17" descr="截屏2025-03-11 19.38.20"/>
          <p:cNvPicPr>
            <a:picLocks noChangeAspect="1"/>
          </p:cNvPicPr>
          <p:nvPr>
            <p:custDataLst>
              <p:tags r:id="rId1"/>
            </p:custDataLst>
          </p:nvPr>
        </p:nvPicPr>
        <p:blipFill>
          <a:blip r:embed="rId2"/>
          <a:stretch>
            <a:fillRect/>
          </a:stretch>
        </p:blipFill>
        <p:spPr>
          <a:xfrm>
            <a:off x="236220" y="1625600"/>
            <a:ext cx="5356860" cy="4130040"/>
          </a:xfrm>
          <a:prstGeom prst="rect">
            <a:avLst/>
          </a:prstGeom>
        </p:spPr>
      </p:pic>
      <p:pic>
        <p:nvPicPr>
          <p:cNvPr id="18" name="图片 18" descr="截屏2025-03-11 19.38.39"/>
          <p:cNvPicPr>
            <a:picLocks noChangeAspect="1"/>
          </p:cNvPicPr>
          <p:nvPr>
            <p:custDataLst>
              <p:tags r:id="rId3"/>
            </p:custDataLst>
          </p:nvPr>
        </p:nvPicPr>
        <p:blipFill>
          <a:blip r:embed="rId4"/>
          <a:stretch>
            <a:fillRect/>
          </a:stretch>
        </p:blipFill>
        <p:spPr>
          <a:xfrm>
            <a:off x="5747385" y="2119630"/>
            <a:ext cx="3091180" cy="3141980"/>
          </a:xfrm>
          <a:prstGeom prst="rect">
            <a:avLst/>
          </a:prstGeom>
        </p:spPr>
      </p:pic>
      <p:pic>
        <p:nvPicPr>
          <p:cNvPr id="19" name="图片 19" descr="截屏2025-03-11 19.40.05"/>
          <p:cNvPicPr>
            <a:picLocks noChangeAspect="1"/>
          </p:cNvPicPr>
          <p:nvPr>
            <p:custDataLst>
              <p:tags r:id="rId5"/>
            </p:custDataLst>
          </p:nvPr>
        </p:nvPicPr>
        <p:blipFill>
          <a:blip r:embed="rId6"/>
          <a:stretch>
            <a:fillRect/>
          </a:stretch>
        </p:blipFill>
        <p:spPr>
          <a:xfrm>
            <a:off x="8704580" y="2119630"/>
            <a:ext cx="3326130" cy="314134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36220" y="416560"/>
            <a:ext cx="10515600" cy="1325563"/>
          </a:xfrm>
        </p:spPr>
        <p:txBody>
          <a:bodyPr/>
          <a:p>
            <a:r>
              <a:rPr lang="en-US" altLang="zh-CN" b="1">
                <a:sym typeface="+mn-ea"/>
              </a:rPr>
              <a:t>XGBoost </a:t>
            </a:r>
            <a:r>
              <a:rPr lang="zh-CN" altLang="en-US" b="1">
                <a:sym typeface="+mn-ea"/>
              </a:rPr>
              <a:t>——</a:t>
            </a:r>
            <a:r>
              <a:rPr lang="en-US" altLang="zh-CN" b="1">
                <a:sym typeface="+mn-ea"/>
              </a:rPr>
              <a:t> V</a:t>
            </a:r>
            <a:r>
              <a:rPr lang="en-US" altLang="zh-CN" b="1">
                <a:sym typeface="+mn-ea"/>
              </a:rPr>
              <a:t>iolence</a:t>
            </a:r>
            <a:endParaRPr lang="en-US" altLang="zh-CN" b="1">
              <a:sym typeface="+mn-ea"/>
            </a:endParaRPr>
          </a:p>
        </p:txBody>
      </p:sp>
      <p:pic>
        <p:nvPicPr>
          <p:cNvPr id="20" name="图片 20" descr="截屏2025-03-11 19.41.29"/>
          <p:cNvPicPr>
            <a:picLocks noChangeAspect="1"/>
          </p:cNvPicPr>
          <p:nvPr>
            <p:custDataLst>
              <p:tags r:id="rId1"/>
            </p:custDataLst>
          </p:nvPr>
        </p:nvPicPr>
        <p:blipFill>
          <a:blip r:embed="rId2"/>
          <a:stretch>
            <a:fillRect/>
          </a:stretch>
        </p:blipFill>
        <p:spPr>
          <a:xfrm>
            <a:off x="236220" y="1481455"/>
            <a:ext cx="4085590" cy="4260850"/>
          </a:xfrm>
          <a:prstGeom prst="rect">
            <a:avLst/>
          </a:prstGeom>
        </p:spPr>
      </p:pic>
      <p:pic>
        <p:nvPicPr>
          <p:cNvPr id="21" name="图片 21" descr="截屏2025-03-11 19.42.41"/>
          <p:cNvPicPr>
            <a:picLocks noChangeAspect="1"/>
          </p:cNvPicPr>
          <p:nvPr>
            <p:custDataLst>
              <p:tags r:id="rId3"/>
            </p:custDataLst>
          </p:nvPr>
        </p:nvPicPr>
        <p:blipFill>
          <a:blip r:embed="rId4"/>
          <a:stretch>
            <a:fillRect/>
          </a:stretch>
        </p:blipFill>
        <p:spPr>
          <a:xfrm>
            <a:off x="4461510" y="2159000"/>
            <a:ext cx="4065270" cy="2539365"/>
          </a:xfrm>
          <a:prstGeom prst="rect">
            <a:avLst/>
          </a:prstGeom>
        </p:spPr>
      </p:pic>
      <p:pic>
        <p:nvPicPr>
          <p:cNvPr id="23" name="图片 23" descr="截屏2025-03-11 19.44.18"/>
          <p:cNvPicPr>
            <a:picLocks noChangeAspect="1"/>
          </p:cNvPicPr>
          <p:nvPr>
            <p:custDataLst>
              <p:tags r:id="rId5"/>
            </p:custDataLst>
          </p:nvPr>
        </p:nvPicPr>
        <p:blipFill>
          <a:blip r:embed="rId6"/>
          <a:stretch>
            <a:fillRect/>
          </a:stretch>
        </p:blipFill>
        <p:spPr>
          <a:xfrm>
            <a:off x="8806180" y="1240155"/>
            <a:ext cx="3079115" cy="1325880"/>
          </a:xfrm>
          <a:prstGeom prst="rect">
            <a:avLst/>
          </a:prstGeom>
        </p:spPr>
      </p:pic>
      <p:pic>
        <p:nvPicPr>
          <p:cNvPr id="22" name="图片 22" descr="截屏2025-03-11 19.43.58"/>
          <p:cNvPicPr>
            <a:picLocks noChangeAspect="1"/>
          </p:cNvPicPr>
          <p:nvPr>
            <p:custDataLst>
              <p:tags r:id="rId7"/>
            </p:custDataLst>
          </p:nvPr>
        </p:nvPicPr>
        <p:blipFill>
          <a:blip r:embed="rId8"/>
          <a:stretch>
            <a:fillRect/>
          </a:stretch>
        </p:blipFill>
        <p:spPr>
          <a:xfrm>
            <a:off x="8806180" y="2566035"/>
            <a:ext cx="3105785" cy="301371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36220" y="312420"/>
            <a:ext cx="10515600" cy="1325563"/>
          </a:xfrm>
        </p:spPr>
        <p:txBody>
          <a:bodyPr/>
          <a:p>
            <a:r>
              <a:rPr lang="en-US" altLang="zh-CN" b="1">
                <a:sym typeface="+mn-ea"/>
              </a:rPr>
              <a:t>XGBoost Tuning</a:t>
            </a:r>
            <a:r>
              <a:rPr lang="zh-CN" altLang="en-US" b="1">
                <a:sym typeface="+mn-ea"/>
              </a:rPr>
              <a:t>——</a:t>
            </a:r>
            <a:r>
              <a:rPr lang="en-US" altLang="zh-CN" b="1">
                <a:sym typeface="+mn-ea"/>
              </a:rPr>
              <a:t> V</a:t>
            </a:r>
            <a:r>
              <a:rPr lang="en-US" altLang="zh-CN" b="1">
                <a:sym typeface="+mn-ea"/>
              </a:rPr>
              <a:t>iolence</a:t>
            </a:r>
            <a:endParaRPr lang="en-US" altLang="zh-CN" b="1">
              <a:sym typeface="+mn-ea"/>
            </a:endParaRPr>
          </a:p>
        </p:txBody>
      </p:sp>
      <p:pic>
        <p:nvPicPr>
          <p:cNvPr id="26" name="图片 26" descr="截屏2025-03-11 19.47.04"/>
          <p:cNvPicPr>
            <a:picLocks noChangeAspect="1"/>
          </p:cNvPicPr>
          <p:nvPr>
            <p:custDataLst>
              <p:tags r:id="rId1"/>
            </p:custDataLst>
          </p:nvPr>
        </p:nvPicPr>
        <p:blipFill>
          <a:blip r:embed="rId2"/>
          <a:stretch>
            <a:fillRect/>
          </a:stretch>
        </p:blipFill>
        <p:spPr>
          <a:xfrm>
            <a:off x="459105" y="1638300"/>
            <a:ext cx="5270500" cy="1601470"/>
          </a:xfrm>
          <a:prstGeom prst="rect">
            <a:avLst/>
          </a:prstGeom>
        </p:spPr>
      </p:pic>
      <p:sp>
        <p:nvSpPr>
          <p:cNvPr id="100" name="文本框 99"/>
          <p:cNvSpPr txBox="1"/>
          <p:nvPr/>
        </p:nvSpPr>
        <p:spPr>
          <a:xfrm>
            <a:off x="7112000" y="2552700"/>
            <a:ext cx="5080000" cy="1753235"/>
          </a:xfrm>
          <a:prstGeom prst="rect">
            <a:avLst/>
          </a:prstGeom>
          <a:noFill/>
          <a:ln w="9525">
            <a:noFill/>
          </a:ln>
        </p:spPr>
        <p:txBody>
          <a:bodyPr>
            <a:spAutoFit/>
          </a:bodyPr>
          <a:p>
            <a:pPr marL="0" indent="0" algn="l">
              <a:lnSpc>
                <a:spcPct val="150000"/>
              </a:lnSpc>
            </a:pPr>
            <a:r>
              <a:rPr lang="en-US" b="0">
                <a:latin typeface="Calibri" charset="0"/>
                <a:cs typeface="宋体" charset="0"/>
              </a:rPr>
              <a:t>the best-performing hyperparameter :</a:t>
            </a:r>
            <a:endParaRPr lang="en-US" b="0">
              <a:latin typeface="Calibri" charset="0"/>
              <a:cs typeface="宋体" charset="0"/>
            </a:endParaRPr>
          </a:p>
          <a:p>
            <a:pPr marL="285750" indent="-285750" algn="l">
              <a:lnSpc>
                <a:spcPct val="150000"/>
              </a:lnSpc>
              <a:buFont typeface="Arial" panose="020B0604020202090204" pitchFamily="34" charset="0"/>
              <a:buChar char="•"/>
            </a:pPr>
            <a:r>
              <a:rPr lang="en-US" b="0">
                <a:latin typeface="Calibri" charset="0"/>
                <a:cs typeface="宋体" charset="0"/>
              </a:rPr>
              <a:t>Learning rate (eta) = 0.05</a:t>
            </a:r>
            <a:endParaRPr lang="en-US" b="0">
              <a:latin typeface="Calibri" charset="0"/>
              <a:cs typeface="宋体" charset="0"/>
            </a:endParaRPr>
          </a:p>
          <a:p>
            <a:pPr marL="285750" indent="-285750" algn="l">
              <a:lnSpc>
                <a:spcPct val="150000"/>
              </a:lnSpc>
              <a:buFont typeface="Arial" panose="020B0604020202090204" pitchFamily="34" charset="0"/>
              <a:buChar char="•"/>
            </a:pPr>
            <a:r>
              <a:rPr lang="en-US" b="0">
                <a:latin typeface="Calibri" charset="0"/>
                <a:cs typeface="宋体" charset="0"/>
              </a:rPr>
              <a:t>Maximum tree depth = 3 </a:t>
            </a:r>
            <a:endParaRPr lang="en-US" b="0">
              <a:latin typeface="Calibri" charset="0"/>
              <a:cs typeface="宋体" charset="0"/>
            </a:endParaRPr>
          </a:p>
          <a:p>
            <a:pPr marL="285750" indent="-285750" algn="l">
              <a:lnSpc>
                <a:spcPct val="150000"/>
              </a:lnSpc>
              <a:buFont typeface="Arial" panose="020B0604020202090204" pitchFamily="34" charset="0"/>
              <a:buChar char="•"/>
            </a:pPr>
            <a:r>
              <a:rPr lang="en-US" b="0">
                <a:latin typeface="Calibri" charset="0"/>
                <a:cs typeface="宋体" charset="0"/>
              </a:rPr>
              <a:t>Minimum child weight = 3</a:t>
            </a:r>
            <a:endParaRPr lang="en-US" altLang="en-US" b="0">
              <a:latin typeface="Calibri" charset="0"/>
              <a:cs typeface="宋体" charset="0"/>
            </a:endParaRPr>
          </a:p>
        </p:txBody>
      </p:sp>
      <p:pic>
        <p:nvPicPr>
          <p:cNvPr id="28" name="图片 28" descr="截屏2025-03-11 19.52.29"/>
          <p:cNvPicPr>
            <a:picLocks noChangeAspect="1"/>
          </p:cNvPicPr>
          <p:nvPr>
            <p:custDataLst>
              <p:tags r:id="rId3"/>
            </p:custDataLst>
          </p:nvPr>
        </p:nvPicPr>
        <p:blipFill>
          <a:blip r:embed="rId4"/>
          <a:stretch>
            <a:fillRect/>
          </a:stretch>
        </p:blipFill>
        <p:spPr>
          <a:xfrm>
            <a:off x="3783330" y="3429000"/>
            <a:ext cx="2442210" cy="2364740"/>
          </a:xfrm>
          <a:prstGeom prst="rect">
            <a:avLst/>
          </a:prstGeom>
        </p:spPr>
      </p:pic>
      <p:pic>
        <p:nvPicPr>
          <p:cNvPr id="29" name="图片 29" descr="截屏2025-03-11 19.52.49"/>
          <p:cNvPicPr>
            <a:picLocks noChangeAspect="1"/>
          </p:cNvPicPr>
          <p:nvPr>
            <p:custDataLst>
              <p:tags r:id="rId5"/>
            </p:custDataLst>
          </p:nvPr>
        </p:nvPicPr>
        <p:blipFill>
          <a:blip r:embed="rId6"/>
          <a:stretch>
            <a:fillRect/>
          </a:stretch>
        </p:blipFill>
        <p:spPr>
          <a:xfrm>
            <a:off x="398780" y="3429000"/>
            <a:ext cx="3289300" cy="18821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36220" y="412750"/>
            <a:ext cx="10515600" cy="1325563"/>
          </a:xfrm>
        </p:spPr>
        <p:txBody>
          <a:bodyPr>
            <a:normAutofit/>
          </a:bodyPr>
          <a:p>
            <a:r>
              <a:rPr lang="en-US" altLang="zh-CN" b="1">
                <a:sym typeface="+mn-ea"/>
              </a:rPr>
              <a:t>Feature Importance</a:t>
            </a:r>
            <a:r>
              <a:rPr lang="zh-CN" altLang="en-US" b="1">
                <a:sym typeface="+mn-ea"/>
              </a:rPr>
              <a:t>——</a:t>
            </a:r>
            <a:r>
              <a:rPr lang="en-US" altLang="zh-CN" b="1">
                <a:sym typeface="+mn-ea"/>
              </a:rPr>
              <a:t> V</a:t>
            </a:r>
            <a:r>
              <a:rPr lang="en-US" altLang="zh-CN" b="1">
                <a:sym typeface="+mn-ea"/>
              </a:rPr>
              <a:t>iolence</a:t>
            </a:r>
            <a:endParaRPr lang="en-US" altLang="zh-CN" b="1">
              <a:sym typeface="+mn-ea"/>
            </a:endParaRPr>
          </a:p>
        </p:txBody>
      </p:sp>
      <p:pic>
        <p:nvPicPr>
          <p:cNvPr id="30" name="图片 30" descr="截屏2025-03-11 19.53.19"/>
          <p:cNvPicPr>
            <a:picLocks noChangeAspect="1"/>
          </p:cNvPicPr>
          <p:nvPr>
            <p:custDataLst>
              <p:tags r:id="rId1"/>
            </p:custDataLst>
          </p:nvPr>
        </p:nvPicPr>
        <p:blipFill>
          <a:blip r:embed="rId2"/>
          <a:stretch>
            <a:fillRect/>
          </a:stretch>
        </p:blipFill>
        <p:spPr>
          <a:xfrm>
            <a:off x="133985" y="1738630"/>
            <a:ext cx="6196330" cy="2207260"/>
          </a:xfrm>
          <a:prstGeom prst="rect">
            <a:avLst/>
          </a:prstGeom>
        </p:spPr>
      </p:pic>
      <p:pic>
        <p:nvPicPr>
          <p:cNvPr id="31" name="图片 31" descr="截屏2025-03-11 19.53.57"/>
          <p:cNvPicPr>
            <a:picLocks noChangeAspect="1"/>
          </p:cNvPicPr>
          <p:nvPr>
            <p:custDataLst>
              <p:tags r:id="rId3"/>
            </p:custDataLst>
          </p:nvPr>
        </p:nvPicPr>
        <p:blipFill>
          <a:blip r:embed="rId4"/>
          <a:stretch>
            <a:fillRect/>
          </a:stretch>
        </p:blipFill>
        <p:spPr>
          <a:xfrm>
            <a:off x="133985" y="4008755"/>
            <a:ext cx="6196965" cy="1955165"/>
          </a:xfrm>
          <a:prstGeom prst="rect">
            <a:avLst/>
          </a:prstGeom>
        </p:spPr>
      </p:pic>
      <p:pic>
        <p:nvPicPr>
          <p:cNvPr id="32" name="图片 32" descr="截屏2025-03-11 19.54.11"/>
          <p:cNvPicPr>
            <a:picLocks noChangeAspect="1"/>
          </p:cNvPicPr>
          <p:nvPr>
            <p:custDataLst>
              <p:tags r:id="rId5"/>
            </p:custDataLst>
          </p:nvPr>
        </p:nvPicPr>
        <p:blipFill>
          <a:blip r:embed="rId6"/>
          <a:stretch>
            <a:fillRect/>
          </a:stretch>
        </p:blipFill>
        <p:spPr>
          <a:xfrm>
            <a:off x="6405880" y="2891155"/>
            <a:ext cx="5676900" cy="18313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36220" y="388620"/>
            <a:ext cx="11845290" cy="1325880"/>
          </a:xfrm>
        </p:spPr>
        <p:txBody>
          <a:bodyPr>
            <a:normAutofit fontScale="90000"/>
          </a:bodyPr>
          <a:p>
            <a:r>
              <a:rPr lang="en-US" altLang="zh-CN" b="1">
                <a:sym typeface="+mn-ea"/>
              </a:rPr>
              <a:t>Machine Learning Models</a:t>
            </a:r>
            <a:r>
              <a:rPr lang="zh-CN" altLang="en-US" b="1">
                <a:sym typeface="+mn-ea"/>
              </a:rPr>
              <a:t>——</a:t>
            </a:r>
            <a:r>
              <a:rPr lang="en-US" altLang="zh-CN" b="1">
                <a:sym typeface="+mn-ea"/>
              </a:rPr>
              <a:t> Discrimination</a:t>
            </a:r>
            <a:endParaRPr lang="en-US" altLang="zh-CN" b="1">
              <a:sym typeface="+mn-ea"/>
            </a:endParaRPr>
          </a:p>
        </p:txBody>
      </p:sp>
      <p:sp>
        <p:nvSpPr>
          <p:cNvPr id="3" name="文本框 2"/>
          <p:cNvSpPr txBox="1"/>
          <p:nvPr/>
        </p:nvSpPr>
        <p:spPr>
          <a:xfrm>
            <a:off x="1469390" y="1476375"/>
            <a:ext cx="9057005" cy="4340860"/>
          </a:xfrm>
          <a:prstGeom prst="rect">
            <a:avLst/>
          </a:prstGeom>
          <a:noFill/>
          <a:ln w="9525">
            <a:noFill/>
          </a:ln>
        </p:spPr>
        <p:txBody>
          <a:bodyPr wrap="square">
            <a:noAutofit/>
          </a:bodyPr>
          <a:p>
            <a:pPr marL="285750" indent="-285750">
              <a:lnSpc>
                <a:spcPct val="150000"/>
              </a:lnSpc>
              <a:buFont typeface="Arial" panose="020B0604020202090204" pitchFamily="34" charset="0"/>
              <a:buChar char="•"/>
            </a:pPr>
            <a:r>
              <a:rPr lang="en-US" sz="2400" b="1">
                <a:latin typeface="Calibri" charset="0"/>
                <a:cs typeface="宋体" charset="0"/>
              </a:rPr>
              <a:t>supervised regression problem </a:t>
            </a:r>
            <a:endParaRPr lang="en-US" sz="2400" b="1">
              <a:latin typeface="Calibri" charset="0"/>
              <a:cs typeface="宋体" charset="0"/>
            </a:endParaRPr>
          </a:p>
          <a:p>
            <a:pPr marL="742950" lvl="1" indent="-285750">
              <a:lnSpc>
                <a:spcPct val="150000"/>
              </a:lnSpc>
              <a:buFont typeface="Arial" panose="020B0604020202090204" pitchFamily="34" charset="0"/>
              <a:buChar char="•"/>
            </a:pPr>
            <a:r>
              <a:rPr lang="en-US" sz="2400" b="0">
                <a:latin typeface="Calibri" charset="0"/>
                <a:cs typeface="宋体" charset="0"/>
              </a:rPr>
              <a:t>Lasso Regression</a:t>
            </a:r>
            <a:endParaRPr lang="en-US" sz="2400" b="0">
              <a:latin typeface="Calibri" charset="0"/>
              <a:cs typeface="宋体" charset="0"/>
            </a:endParaRPr>
          </a:p>
          <a:p>
            <a:pPr marL="742950" lvl="1" indent="-285750">
              <a:lnSpc>
                <a:spcPct val="150000"/>
              </a:lnSpc>
              <a:buFont typeface="Arial" panose="020B0604020202090204" pitchFamily="34" charset="0"/>
              <a:buChar char="•"/>
            </a:pPr>
            <a:r>
              <a:rPr lang="en-US" sz="2400" b="0">
                <a:latin typeface="Calibri" charset="0"/>
                <a:cs typeface="宋体" charset="0"/>
              </a:rPr>
              <a:t>Random Forest</a:t>
            </a:r>
            <a:endParaRPr lang="en-US" sz="2400" b="0">
              <a:latin typeface="Calibri" charset="0"/>
              <a:cs typeface="宋体" charset="0"/>
            </a:endParaRPr>
          </a:p>
          <a:p>
            <a:pPr marL="742950" lvl="1" indent="-285750">
              <a:lnSpc>
                <a:spcPct val="150000"/>
              </a:lnSpc>
              <a:buFont typeface="Arial" panose="020B0604020202090204" pitchFamily="34" charset="0"/>
              <a:buChar char="•"/>
            </a:pPr>
            <a:r>
              <a:rPr lang="en-US" sz="2400" b="0">
                <a:latin typeface="Calibri" charset="0"/>
                <a:cs typeface="宋体" charset="0"/>
              </a:rPr>
              <a:t>XGBoost</a:t>
            </a:r>
            <a:endParaRPr lang="en-US" sz="2400" b="0">
              <a:latin typeface="Calibri" charset="0"/>
              <a:cs typeface="宋体" charset="0"/>
            </a:endParaRPr>
          </a:p>
          <a:p>
            <a:pPr marL="285750" indent="-285750">
              <a:lnSpc>
                <a:spcPct val="150000"/>
              </a:lnSpc>
              <a:buFont typeface="Arial" panose="020B0604020202090204" pitchFamily="34" charset="0"/>
              <a:buChar char="•"/>
            </a:pPr>
            <a:endParaRPr lang="en-US" altLang="en-US" sz="2400" b="0">
              <a:latin typeface="Calibri" charset="0"/>
              <a:cs typeface="宋体" charset="0"/>
            </a:endParaRPr>
          </a:p>
          <a:p>
            <a:pPr marL="285750" indent="-285750" algn="l">
              <a:lnSpc>
                <a:spcPct val="150000"/>
              </a:lnSpc>
              <a:buFont typeface="Arial" panose="020B0604020202090204" pitchFamily="34" charset="0"/>
              <a:buChar char="•"/>
            </a:pPr>
            <a:r>
              <a:rPr lang="en-US" sz="2400">
                <a:latin typeface="Calibri" charset="0"/>
                <a:cs typeface="宋体" charset="0"/>
                <a:sym typeface="+mn-ea"/>
              </a:rPr>
              <a:t>70% training data and 30% test data</a:t>
            </a:r>
            <a:endParaRPr lang="en-US" sz="2400" b="0">
              <a:latin typeface="Calibri" charset="0"/>
              <a:cs typeface="宋体" charset="0"/>
            </a:endParaRPr>
          </a:p>
          <a:p>
            <a:pPr marL="285750" indent="-285750" algn="l">
              <a:lnSpc>
                <a:spcPct val="150000"/>
              </a:lnSpc>
              <a:buFont typeface="Arial" panose="020B0604020202090204" pitchFamily="34" charset="0"/>
              <a:buChar char="•"/>
            </a:pPr>
            <a:r>
              <a:rPr lang="en-US" altLang="en-US" sz="2400">
                <a:latin typeface="Calibri" charset="0"/>
                <a:cs typeface="宋体" charset="0"/>
                <a:sym typeface="+mn-ea"/>
              </a:rPr>
              <a:t>feature standardization on continuous predictors</a:t>
            </a:r>
            <a:endParaRPr lang="en-US" altLang="en-US" sz="2400">
              <a:latin typeface="Calibri" charset="0"/>
              <a:cs typeface="宋体" charset="0"/>
              <a:sym typeface="+mn-ea"/>
            </a:endParaRPr>
          </a:p>
          <a:p>
            <a:pPr marL="742950" lvl="1" indent="-285750" algn="l">
              <a:lnSpc>
                <a:spcPct val="150000"/>
              </a:lnSpc>
              <a:buFont typeface="Arial" panose="020B0604020202090204" pitchFamily="34" charset="0"/>
              <a:buChar char="•"/>
            </a:pPr>
            <a:r>
              <a:rPr lang="en-US" altLang="en-US" sz="2400">
                <a:latin typeface="Calibri" charset="0"/>
                <a:cs typeface="宋体" charset="0"/>
                <a:sym typeface="+mn-ea"/>
              </a:rPr>
              <a:t>applied z-score normalization (centering and scaling)</a:t>
            </a:r>
            <a:endParaRPr lang="en-US" altLang="en-US" sz="2400" b="0">
              <a:latin typeface="Calibri" charset="0"/>
              <a:cs typeface="宋体" charset="0"/>
            </a:endParaRPr>
          </a:p>
          <a:p>
            <a:pPr marL="285750" indent="-285750">
              <a:buFont typeface="Arial" panose="020B0604020202090204" pitchFamily="34" charset="0"/>
              <a:buChar char="•"/>
            </a:pPr>
            <a:endParaRPr lang="en-US" altLang="en-US" sz="2400" b="0">
              <a:latin typeface="Calibri" charset="0"/>
              <a:cs typeface="宋体"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36220" y="274320"/>
            <a:ext cx="10515600" cy="1325563"/>
          </a:xfrm>
        </p:spPr>
        <p:txBody>
          <a:bodyPr>
            <a:normAutofit/>
          </a:bodyPr>
          <a:p>
            <a:r>
              <a:rPr lang="en-US" altLang="zh-CN" b="1">
                <a:sym typeface="+mn-ea"/>
              </a:rPr>
              <a:t>Lasso Regression </a:t>
            </a:r>
            <a:r>
              <a:rPr lang="zh-CN" altLang="en-US" b="1">
                <a:sym typeface="+mn-ea"/>
              </a:rPr>
              <a:t>——</a:t>
            </a:r>
            <a:r>
              <a:rPr lang="en-US" altLang="zh-CN" b="1">
                <a:sym typeface="+mn-ea"/>
              </a:rPr>
              <a:t> Discrimination</a:t>
            </a:r>
            <a:endParaRPr lang="en-US" altLang="zh-CN" b="1">
              <a:sym typeface="+mn-ea"/>
            </a:endParaRPr>
          </a:p>
        </p:txBody>
      </p:sp>
      <p:pic>
        <p:nvPicPr>
          <p:cNvPr id="36" name="图片 36" descr="截屏2025-03-11 20.02.32"/>
          <p:cNvPicPr>
            <a:picLocks noChangeAspect="1"/>
          </p:cNvPicPr>
          <p:nvPr>
            <p:custDataLst>
              <p:tags r:id="rId1"/>
            </p:custDataLst>
          </p:nvPr>
        </p:nvPicPr>
        <p:blipFill>
          <a:blip r:embed="rId2"/>
          <a:stretch>
            <a:fillRect/>
          </a:stretch>
        </p:blipFill>
        <p:spPr>
          <a:xfrm>
            <a:off x="436880" y="1318895"/>
            <a:ext cx="3742055" cy="4899660"/>
          </a:xfrm>
          <a:prstGeom prst="rect">
            <a:avLst/>
          </a:prstGeom>
        </p:spPr>
      </p:pic>
      <p:pic>
        <p:nvPicPr>
          <p:cNvPr id="34" name="图片 34" descr="截屏2025-03-11 20.01.10"/>
          <p:cNvPicPr>
            <a:picLocks noChangeAspect="1"/>
          </p:cNvPicPr>
          <p:nvPr>
            <p:custDataLst>
              <p:tags r:id="rId3"/>
            </p:custDataLst>
          </p:nvPr>
        </p:nvPicPr>
        <p:blipFill>
          <a:blip r:embed="rId4"/>
          <a:stretch>
            <a:fillRect/>
          </a:stretch>
        </p:blipFill>
        <p:spPr>
          <a:xfrm>
            <a:off x="5645785" y="1318895"/>
            <a:ext cx="5106035" cy="2964180"/>
          </a:xfrm>
          <a:prstGeom prst="rect">
            <a:avLst/>
          </a:prstGeom>
        </p:spPr>
      </p:pic>
      <p:pic>
        <p:nvPicPr>
          <p:cNvPr id="35" name="图片 35" descr="截屏2025-03-11 20.01.33"/>
          <p:cNvPicPr>
            <a:picLocks noChangeAspect="1"/>
          </p:cNvPicPr>
          <p:nvPr>
            <p:custDataLst>
              <p:tags r:id="rId5"/>
            </p:custDataLst>
          </p:nvPr>
        </p:nvPicPr>
        <p:blipFill>
          <a:blip r:embed="rId6"/>
          <a:stretch>
            <a:fillRect/>
          </a:stretch>
        </p:blipFill>
        <p:spPr>
          <a:xfrm>
            <a:off x="6518910" y="4578350"/>
            <a:ext cx="3680460" cy="151955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36220" y="400685"/>
            <a:ext cx="10515600" cy="1325563"/>
          </a:xfrm>
        </p:spPr>
        <p:txBody>
          <a:bodyPr>
            <a:normAutofit/>
          </a:bodyPr>
          <a:p>
            <a:r>
              <a:rPr lang="en-US" altLang="zh-CN" b="1">
                <a:sym typeface="+mn-ea"/>
              </a:rPr>
              <a:t>Random Forest </a:t>
            </a:r>
            <a:r>
              <a:rPr lang="zh-CN" altLang="en-US" b="1">
                <a:sym typeface="+mn-ea"/>
              </a:rPr>
              <a:t>——</a:t>
            </a:r>
            <a:r>
              <a:rPr lang="en-US" altLang="zh-CN" b="1">
                <a:sym typeface="+mn-ea"/>
              </a:rPr>
              <a:t> Discrimination</a:t>
            </a:r>
            <a:endParaRPr lang="en-US" altLang="zh-CN" b="1">
              <a:sym typeface="+mn-ea"/>
            </a:endParaRPr>
          </a:p>
        </p:txBody>
      </p:sp>
      <p:pic>
        <p:nvPicPr>
          <p:cNvPr id="40" name="图片 40" descr="截屏2025-03-11 20.06.56"/>
          <p:cNvPicPr>
            <a:picLocks noChangeAspect="1"/>
          </p:cNvPicPr>
          <p:nvPr>
            <p:custDataLst>
              <p:tags r:id="rId1"/>
            </p:custDataLst>
          </p:nvPr>
        </p:nvPicPr>
        <p:blipFill>
          <a:blip r:embed="rId2"/>
          <a:stretch>
            <a:fillRect/>
          </a:stretch>
        </p:blipFill>
        <p:spPr>
          <a:xfrm>
            <a:off x="621030" y="2345055"/>
            <a:ext cx="3928110" cy="2544445"/>
          </a:xfrm>
          <a:prstGeom prst="rect">
            <a:avLst/>
          </a:prstGeom>
        </p:spPr>
      </p:pic>
      <p:pic>
        <p:nvPicPr>
          <p:cNvPr id="41" name="图片 41" descr="截屏2025-03-11 20.08.04"/>
          <p:cNvPicPr>
            <a:picLocks noChangeAspect="1"/>
          </p:cNvPicPr>
          <p:nvPr>
            <p:custDataLst>
              <p:tags r:id="rId3"/>
            </p:custDataLst>
          </p:nvPr>
        </p:nvPicPr>
        <p:blipFill>
          <a:blip r:embed="rId4"/>
          <a:stretch>
            <a:fillRect/>
          </a:stretch>
        </p:blipFill>
        <p:spPr>
          <a:xfrm>
            <a:off x="6083300" y="1584960"/>
            <a:ext cx="4897755" cy="2955290"/>
          </a:xfrm>
          <a:prstGeom prst="rect">
            <a:avLst/>
          </a:prstGeom>
        </p:spPr>
      </p:pic>
      <p:pic>
        <p:nvPicPr>
          <p:cNvPr id="42" name="图片 42" descr="截屏2025-03-11 20.09.22"/>
          <p:cNvPicPr>
            <a:picLocks noChangeAspect="1"/>
          </p:cNvPicPr>
          <p:nvPr>
            <p:custDataLst>
              <p:tags r:id="rId5"/>
            </p:custDataLst>
          </p:nvPr>
        </p:nvPicPr>
        <p:blipFill>
          <a:blip r:embed="rId6"/>
          <a:stretch>
            <a:fillRect/>
          </a:stretch>
        </p:blipFill>
        <p:spPr>
          <a:xfrm>
            <a:off x="6571615" y="4889500"/>
            <a:ext cx="4180205" cy="132588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36220" y="601345"/>
            <a:ext cx="10515600" cy="1325563"/>
          </a:xfrm>
        </p:spPr>
        <p:txBody>
          <a:bodyPr>
            <a:normAutofit/>
          </a:bodyPr>
          <a:p>
            <a:r>
              <a:rPr lang="en-US" altLang="zh-CN" b="1">
                <a:sym typeface="+mn-ea"/>
              </a:rPr>
              <a:t>XGBoost </a:t>
            </a:r>
            <a:r>
              <a:rPr lang="zh-CN" altLang="en-US" b="1">
                <a:sym typeface="+mn-ea"/>
              </a:rPr>
              <a:t>——</a:t>
            </a:r>
            <a:r>
              <a:rPr lang="en-US" altLang="zh-CN" b="1">
                <a:sym typeface="+mn-ea"/>
              </a:rPr>
              <a:t> Discrimination</a:t>
            </a:r>
            <a:endParaRPr lang="en-US" altLang="zh-CN" b="1">
              <a:sym typeface="+mn-ea"/>
            </a:endParaRPr>
          </a:p>
        </p:txBody>
      </p:sp>
      <p:pic>
        <p:nvPicPr>
          <p:cNvPr id="38" name="图片 38" descr="截屏2025-03-11 20.04.21"/>
          <p:cNvPicPr>
            <a:picLocks noChangeAspect="1"/>
          </p:cNvPicPr>
          <p:nvPr>
            <p:custDataLst>
              <p:tags r:id="rId1"/>
            </p:custDataLst>
          </p:nvPr>
        </p:nvPicPr>
        <p:blipFill>
          <a:blip r:embed="rId2"/>
          <a:stretch>
            <a:fillRect/>
          </a:stretch>
        </p:blipFill>
        <p:spPr>
          <a:xfrm>
            <a:off x="1079500" y="1927225"/>
            <a:ext cx="4143375" cy="3770630"/>
          </a:xfrm>
          <a:prstGeom prst="rect">
            <a:avLst/>
          </a:prstGeom>
        </p:spPr>
      </p:pic>
      <p:pic>
        <p:nvPicPr>
          <p:cNvPr id="37" name="图片 37" descr="截屏2025-03-11 20.03.41"/>
          <p:cNvPicPr>
            <a:picLocks noChangeAspect="1"/>
          </p:cNvPicPr>
          <p:nvPr>
            <p:custDataLst>
              <p:tags r:id="rId3"/>
            </p:custDataLst>
          </p:nvPr>
        </p:nvPicPr>
        <p:blipFill>
          <a:blip r:embed="rId4"/>
          <a:stretch>
            <a:fillRect/>
          </a:stretch>
        </p:blipFill>
        <p:spPr>
          <a:xfrm>
            <a:off x="5798185" y="1709420"/>
            <a:ext cx="4677410" cy="2872105"/>
          </a:xfrm>
          <a:prstGeom prst="rect">
            <a:avLst/>
          </a:prstGeom>
        </p:spPr>
      </p:pic>
      <p:pic>
        <p:nvPicPr>
          <p:cNvPr id="39" name="图片 39" descr="截屏2025-03-11 20.05.32"/>
          <p:cNvPicPr>
            <a:picLocks noChangeAspect="1"/>
          </p:cNvPicPr>
          <p:nvPr>
            <p:custDataLst>
              <p:tags r:id="rId5"/>
            </p:custDataLst>
          </p:nvPr>
        </p:nvPicPr>
        <p:blipFill>
          <a:blip r:embed="rId6"/>
          <a:stretch>
            <a:fillRect/>
          </a:stretch>
        </p:blipFill>
        <p:spPr>
          <a:xfrm>
            <a:off x="6710680" y="4757420"/>
            <a:ext cx="3253105" cy="132651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99415" y="350520"/>
            <a:ext cx="10515600" cy="1325563"/>
          </a:xfrm>
        </p:spPr>
        <p:txBody>
          <a:bodyPr>
            <a:normAutofit fontScale="90000"/>
          </a:bodyPr>
          <a:p>
            <a:r>
              <a:rPr lang="en-US" altLang="zh-CN" b="1">
                <a:sym typeface="+mn-ea"/>
              </a:rPr>
              <a:t>Model Comparison </a:t>
            </a:r>
            <a:r>
              <a:rPr lang="zh-CN" altLang="en-US" b="1">
                <a:sym typeface="+mn-ea"/>
              </a:rPr>
              <a:t>——</a:t>
            </a:r>
            <a:r>
              <a:rPr lang="en-US" altLang="zh-CN" b="1">
                <a:sym typeface="+mn-ea"/>
              </a:rPr>
              <a:t> Discrimination</a:t>
            </a:r>
            <a:endParaRPr lang="en-US" altLang="zh-CN" b="1">
              <a:sym typeface="+mn-ea"/>
            </a:endParaRPr>
          </a:p>
        </p:txBody>
      </p:sp>
      <p:pic>
        <p:nvPicPr>
          <p:cNvPr id="43" name="图片 43" descr="截屏2025-03-11 20.09.45"/>
          <p:cNvPicPr>
            <a:picLocks noChangeAspect="1"/>
          </p:cNvPicPr>
          <p:nvPr>
            <p:custDataLst>
              <p:tags r:id="rId1"/>
            </p:custDataLst>
          </p:nvPr>
        </p:nvPicPr>
        <p:blipFill>
          <a:blip r:embed="rId2"/>
          <a:stretch>
            <a:fillRect/>
          </a:stretch>
        </p:blipFill>
        <p:spPr>
          <a:xfrm>
            <a:off x="3205480" y="1600835"/>
            <a:ext cx="5702300" cy="988060"/>
          </a:xfrm>
          <a:prstGeom prst="rect">
            <a:avLst/>
          </a:prstGeom>
        </p:spPr>
      </p:pic>
      <p:pic>
        <p:nvPicPr>
          <p:cNvPr id="44" name="图片 44" descr="截屏2025-03-11 20.09.55"/>
          <p:cNvPicPr>
            <a:picLocks noChangeAspect="1"/>
          </p:cNvPicPr>
          <p:nvPr>
            <p:custDataLst>
              <p:tags r:id="rId3"/>
            </p:custDataLst>
          </p:nvPr>
        </p:nvPicPr>
        <p:blipFill>
          <a:blip r:embed="rId4"/>
          <a:stretch>
            <a:fillRect/>
          </a:stretch>
        </p:blipFill>
        <p:spPr>
          <a:xfrm>
            <a:off x="3205480" y="2588895"/>
            <a:ext cx="5622925" cy="35242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36220" y="274955"/>
            <a:ext cx="10515600" cy="1325563"/>
          </a:xfrm>
        </p:spPr>
        <p:txBody>
          <a:bodyPr>
            <a:normAutofit/>
          </a:bodyPr>
          <a:p>
            <a:r>
              <a:rPr lang="en-US" altLang="zh-CN" b="1">
                <a:sym typeface="+mn-ea"/>
              </a:rPr>
              <a:t>XGBoost Tuning </a:t>
            </a:r>
            <a:r>
              <a:rPr lang="zh-CN" altLang="en-US" b="1">
                <a:sym typeface="+mn-ea"/>
              </a:rPr>
              <a:t>——</a:t>
            </a:r>
            <a:r>
              <a:rPr lang="en-US" altLang="zh-CN" b="1">
                <a:sym typeface="+mn-ea"/>
              </a:rPr>
              <a:t> Discrimination</a:t>
            </a:r>
            <a:endParaRPr lang="en-US" altLang="zh-CN" b="1">
              <a:sym typeface="+mn-ea"/>
            </a:endParaRPr>
          </a:p>
        </p:txBody>
      </p:sp>
      <p:pic>
        <p:nvPicPr>
          <p:cNvPr id="45" name="图片 45" descr="截屏2025-03-11 20.11.08"/>
          <p:cNvPicPr>
            <a:picLocks noChangeAspect="1"/>
          </p:cNvPicPr>
          <p:nvPr>
            <p:custDataLst>
              <p:tags r:id="rId1"/>
            </p:custDataLst>
          </p:nvPr>
        </p:nvPicPr>
        <p:blipFill>
          <a:blip r:embed="rId2"/>
          <a:stretch>
            <a:fillRect/>
          </a:stretch>
        </p:blipFill>
        <p:spPr>
          <a:xfrm>
            <a:off x="1365885" y="1866265"/>
            <a:ext cx="5269230" cy="1687830"/>
          </a:xfrm>
          <a:prstGeom prst="rect">
            <a:avLst/>
          </a:prstGeom>
        </p:spPr>
      </p:pic>
      <p:pic>
        <p:nvPicPr>
          <p:cNvPr id="46" name="图片 46" descr="截屏2025-03-11 20.12.20"/>
          <p:cNvPicPr>
            <a:picLocks noChangeAspect="1"/>
          </p:cNvPicPr>
          <p:nvPr>
            <p:custDataLst>
              <p:tags r:id="rId3"/>
            </p:custDataLst>
          </p:nvPr>
        </p:nvPicPr>
        <p:blipFill>
          <a:blip r:embed="rId4"/>
          <a:stretch>
            <a:fillRect/>
          </a:stretch>
        </p:blipFill>
        <p:spPr>
          <a:xfrm>
            <a:off x="8180070" y="1600835"/>
            <a:ext cx="2359025" cy="4400550"/>
          </a:xfrm>
          <a:prstGeom prst="rect">
            <a:avLst/>
          </a:prstGeom>
        </p:spPr>
      </p:pic>
      <p:sp>
        <p:nvSpPr>
          <p:cNvPr id="100" name="文本框 99"/>
          <p:cNvSpPr txBox="1"/>
          <p:nvPr/>
        </p:nvSpPr>
        <p:spPr>
          <a:xfrm>
            <a:off x="1151890" y="3292475"/>
            <a:ext cx="6013450" cy="3761740"/>
          </a:xfrm>
          <a:prstGeom prst="rect">
            <a:avLst/>
          </a:prstGeom>
          <a:noFill/>
          <a:ln w="9525">
            <a:noFill/>
          </a:ln>
        </p:spPr>
        <p:txBody>
          <a:bodyPr wrap="square">
            <a:spAutoFit/>
          </a:bodyPr>
          <a:p>
            <a:pPr marL="266700" indent="-266700" algn="l">
              <a:lnSpc>
                <a:spcPct val="150000"/>
              </a:lnSpc>
            </a:pPr>
            <a:endParaRPr lang="en-US" sz="2100" b="1">
              <a:latin typeface="Calibri" charset="0"/>
              <a:cs typeface="宋体" charset="0"/>
            </a:endParaRPr>
          </a:p>
          <a:p>
            <a:pPr marL="266700" indent="-266700" algn="l">
              <a:lnSpc>
                <a:spcPct val="150000"/>
              </a:lnSpc>
            </a:pPr>
            <a:r>
              <a:rPr lang="en-US" sz="2100">
                <a:latin typeface="Calibri" charset="0"/>
                <a:cs typeface="宋体" charset="0"/>
                <a:sym typeface="+mn-ea"/>
              </a:rPr>
              <a:t>Compared to the initial XGBoost model:</a:t>
            </a:r>
            <a:endParaRPr lang="en-US" sz="2100" b="1">
              <a:latin typeface="Calibri" charset="0"/>
              <a:cs typeface="宋体" charset="0"/>
            </a:endParaRPr>
          </a:p>
          <a:p>
            <a:pPr marL="342900" indent="-342900" algn="l">
              <a:lnSpc>
                <a:spcPct val="150000"/>
              </a:lnSpc>
              <a:buFont typeface="Arial" panose="020B0604020202090204" pitchFamily="34" charset="0"/>
              <a:buChar char="•"/>
            </a:pPr>
            <a:r>
              <a:rPr lang="en-US" sz="2100" b="1">
                <a:latin typeface="Calibri" charset="0"/>
                <a:cs typeface="宋体" charset="0"/>
              </a:rPr>
              <a:t>Best RMSE</a:t>
            </a:r>
            <a:r>
              <a:rPr lang="en-US" sz="2100" b="0">
                <a:latin typeface="Calibri" charset="0"/>
                <a:cs typeface="宋体" charset="0"/>
              </a:rPr>
              <a:t>: 1.3369  (improvement: 0.24%)</a:t>
            </a:r>
            <a:endParaRPr lang="en-US" sz="2100" b="0">
              <a:latin typeface="Calibri" charset="0"/>
              <a:cs typeface="宋体" charset="0"/>
            </a:endParaRPr>
          </a:p>
          <a:p>
            <a:pPr marL="342900" indent="-342900" algn="l">
              <a:lnSpc>
                <a:spcPct val="150000"/>
              </a:lnSpc>
              <a:buFont typeface="Arial" panose="020B0604020202090204" pitchFamily="34" charset="0"/>
              <a:buChar char="•"/>
            </a:pPr>
            <a:r>
              <a:rPr lang="en-US" sz="2100" b="1">
                <a:latin typeface="Calibri" charset="0"/>
                <a:cs typeface="宋体" charset="0"/>
              </a:rPr>
              <a:t>Best MAE</a:t>
            </a:r>
            <a:r>
              <a:rPr lang="en-US" sz="2100" b="0">
                <a:latin typeface="Calibri" charset="0"/>
                <a:cs typeface="宋体" charset="0"/>
              </a:rPr>
              <a:t>: 0.9185 (improvement: 0.03%)</a:t>
            </a:r>
            <a:endParaRPr lang="en-US" sz="2100" b="0">
              <a:latin typeface="Calibri" charset="0"/>
              <a:cs typeface="宋体" charset="0"/>
            </a:endParaRPr>
          </a:p>
          <a:p>
            <a:pPr marL="342900" indent="-342900" algn="l">
              <a:lnSpc>
                <a:spcPct val="150000"/>
              </a:lnSpc>
              <a:buFont typeface="Arial" panose="020B0604020202090204" pitchFamily="34" charset="0"/>
              <a:buChar char="•"/>
            </a:pPr>
            <a:r>
              <a:rPr lang="en-US" sz="2100" b="1">
                <a:latin typeface="Calibri" charset="0"/>
                <a:cs typeface="宋体" charset="0"/>
              </a:rPr>
              <a:t>Best R²</a:t>
            </a:r>
            <a:r>
              <a:rPr lang="en-US" sz="2100" b="0">
                <a:latin typeface="Calibri" charset="0"/>
                <a:cs typeface="宋体" charset="0"/>
              </a:rPr>
              <a:t>: 0.2664(improvement: 1.34%)</a:t>
            </a:r>
            <a:endParaRPr lang="en-US" sz="2100" b="0">
              <a:latin typeface="Calibri" charset="0"/>
              <a:cs typeface="宋体" charset="0"/>
            </a:endParaRPr>
          </a:p>
          <a:p>
            <a:pPr marL="266700" indent="-266700" algn="l"/>
            <a:endParaRPr lang="en-US" sz="2100" b="0">
              <a:latin typeface="Calibri" charset="0"/>
              <a:cs typeface="宋体" charset="0"/>
            </a:endParaRPr>
          </a:p>
          <a:p>
            <a:pPr marL="266700" indent="-266700" algn="l"/>
            <a:r>
              <a:rPr lang="en-US" sz="2100" b="0">
                <a:latin typeface="Calibri" charset="0"/>
                <a:cs typeface="宋体" charset="0"/>
              </a:rPr>
              <a:t></a:t>
            </a:r>
            <a:r>
              <a:rPr lang="en-US" sz="2100" b="0">
                <a:latin typeface="Wingdings" panose="05000000000000000000" charset="0"/>
                <a:cs typeface="宋体" charset="0"/>
              </a:rPr>
              <a:t></a:t>
            </a:r>
            <a:r>
              <a:rPr lang="en-US" altLang="en-US" b="0">
                <a:latin typeface="Calibri" charset="0"/>
                <a:cs typeface="宋体" charset="0"/>
              </a:rPr>
              <a:t></a:t>
            </a:r>
            <a:endParaRPr lang="en-US" altLang="en-US" b="0">
              <a:latin typeface="Calibri" charset="0"/>
              <a:cs typeface="宋体"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36220" y="299720"/>
            <a:ext cx="10515600" cy="1325563"/>
          </a:xfrm>
        </p:spPr>
        <p:txBody>
          <a:bodyPr>
            <a:normAutofit fontScale="90000"/>
          </a:bodyPr>
          <a:p>
            <a:r>
              <a:rPr lang="en-US" altLang="zh-CN" b="1">
                <a:sym typeface="+mn-ea"/>
              </a:rPr>
              <a:t>Feature Importance </a:t>
            </a:r>
            <a:r>
              <a:rPr lang="zh-CN" altLang="en-US" b="1">
                <a:sym typeface="+mn-ea"/>
              </a:rPr>
              <a:t>——</a:t>
            </a:r>
            <a:r>
              <a:rPr lang="en-US" altLang="zh-CN" b="1">
                <a:sym typeface="+mn-ea"/>
              </a:rPr>
              <a:t> Discrimination</a:t>
            </a:r>
            <a:endParaRPr lang="en-US" altLang="zh-CN" b="1">
              <a:sym typeface="+mn-ea"/>
            </a:endParaRPr>
          </a:p>
        </p:txBody>
      </p:sp>
      <p:pic>
        <p:nvPicPr>
          <p:cNvPr id="47" name="图片 47" descr="截屏2025-03-11 20.13.39"/>
          <p:cNvPicPr>
            <a:picLocks noChangeAspect="1"/>
          </p:cNvPicPr>
          <p:nvPr>
            <p:custDataLst>
              <p:tags r:id="rId1"/>
            </p:custDataLst>
          </p:nvPr>
        </p:nvPicPr>
        <p:blipFill>
          <a:blip r:embed="rId2"/>
          <a:stretch>
            <a:fillRect/>
          </a:stretch>
        </p:blipFill>
        <p:spPr>
          <a:xfrm>
            <a:off x="2058035" y="1424940"/>
            <a:ext cx="6873240" cy="2314575"/>
          </a:xfrm>
          <a:prstGeom prst="rect">
            <a:avLst/>
          </a:prstGeom>
        </p:spPr>
      </p:pic>
      <p:pic>
        <p:nvPicPr>
          <p:cNvPr id="48" name="图片 48" descr="截屏2025-03-11 20.13.49"/>
          <p:cNvPicPr>
            <a:picLocks noChangeAspect="1"/>
          </p:cNvPicPr>
          <p:nvPr>
            <p:custDataLst>
              <p:tags r:id="rId3"/>
            </p:custDataLst>
          </p:nvPr>
        </p:nvPicPr>
        <p:blipFill>
          <a:blip r:embed="rId4"/>
          <a:stretch>
            <a:fillRect/>
          </a:stretch>
        </p:blipFill>
        <p:spPr>
          <a:xfrm>
            <a:off x="2057400" y="3839845"/>
            <a:ext cx="6873875" cy="234886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36220" y="551180"/>
            <a:ext cx="10515600" cy="1325563"/>
          </a:xfrm>
        </p:spPr>
        <p:txBody>
          <a:bodyPr>
            <a:normAutofit/>
          </a:bodyPr>
          <a:p>
            <a:r>
              <a:rPr lang="en-US" altLang="zh-CN" b="1">
                <a:sym typeface="+mn-ea"/>
              </a:rPr>
              <a:t>Findings </a:t>
            </a:r>
            <a:r>
              <a:rPr lang="zh-CN" altLang="en-US" b="1">
                <a:sym typeface="+mn-ea"/>
              </a:rPr>
              <a:t>——</a:t>
            </a:r>
            <a:r>
              <a:rPr lang="en-US" altLang="zh-CN" b="1">
                <a:sym typeface="+mn-ea"/>
              </a:rPr>
              <a:t> Gender</a:t>
            </a:r>
            <a:endParaRPr lang="en-US" altLang="zh-CN" b="1">
              <a:sym typeface="+mn-ea"/>
            </a:endParaRPr>
          </a:p>
        </p:txBody>
      </p:sp>
      <p:pic>
        <p:nvPicPr>
          <p:cNvPr id="49" name="图片 49" descr="截屏2025-03-11 20.18.58"/>
          <p:cNvPicPr>
            <a:picLocks noChangeAspect="1"/>
          </p:cNvPicPr>
          <p:nvPr>
            <p:custDataLst>
              <p:tags r:id="rId1"/>
            </p:custDataLst>
          </p:nvPr>
        </p:nvPicPr>
        <p:blipFill>
          <a:blip r:embed="rId2"/>
          <a:stretch>
            <a:fillRect/>
          </a:stretch>
        </p:blipFill>
        <p:spPr>
          <a:xfrm>
            <a:off x="6254115" y="2150110"/>
            <a:ext cx="5259705" cy="3256280"/>
          </a:xfrm>
          <a:prstGeom prst="rect">
            <a:avLst/>
          </a:prstGeom>
        </p:spPr>
      </p:pic>
      <p:pic>
        <p:nvPicPr>
          <p:cNvPr id="54" name="图片 54" descr="截屏2025-03-11 20.28.38"/>
          <p:cNvPicPr>
            <a:picLocks noChangeAspect="1"/>
          </p:cNvPicPr>
          <p:nvPr>
            <p:custDataLst>
              <p:tags r:id="rId3"/>
            </p:custDataLst>
          </p:nvPr>
        </p:nvPicPr>
        <p:blipFill>
          <a:blip r:embed="rId4"/>
          <a:stretch>
            <a:fillRect/>
          </a:stretch>
        </p:blipFill>
        <p:spPr>
          <a:xfrm>
            <a:off x="453390" y="2150110"/>
            <a:ext cx="5478780" cy="325564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36220" y="412750"/>
            <a:ext cx="10515600" cy="1325563"/>
          </a:xfrm>
        </p:spPr>
        <p:txBody>
          <a:bodyPr>
            <a:normAutofit/>
          </a:bodyPr>
          <a:p>
            <a:r>
              <a:rPr lang="en-US" altLang="zh-CN" b="1">
                <a:sym typeface="+mn-ea"/>
              </a:rPr>
              <a:t>Findings </a:t>
            </a:r>
            <a:r>
              <a:rPr lang="zh-CN" altLang="en-US" b="1">
                <a:sym typeface="+mn-ea"/>
              </a:rPr>
              <a:t>——</a:t>
            </a:r>
            <a:r>
              <a:rPr lang="en-US" altLang="zh-CN" b="1">
                <a:sym typeface="+mn-ea"/>
              </a:rPr>
              <a:t> Minority</a:t>
            </a:r>
            <a:endParaRPr lang="en-US" altLang="zh-CN" b="1">
              <a:sym typeface="+mn-ea"/>
            </a:endParaRPr>
          </a:p>
        </p:txBody>
      </p:sp>
      <p:pic>
        <p:nvPicPr>
          <p:cNvPr id="55" name="图片 55" descr="截屏2025-03-11 20.29.42"/>
          <p:cNvPicPr>
            <a:picLocks noChangeAspect="1"/>
          </p:cNvPicPr>
          <p:nvPr>
            <p:custDataLst>
              <p:tags r:id="rId1"/>
            </p:custDataLst>
          </p:nvPr>
        </p:nvPicPr>
        <p:blipFill>
          <a:blip r:embed="rId2"/>
          <a:stretch>
            <a:fillRect/>
          </a:stretch>
        </p:blipFill>
        <p:spPr>
          <a:xfrm>
            <a:off x="487045" y="1992630"/>
            <a:ext cx="5105400" cy="3061970"/>
          </a:xfrm>
          <a:prstGeom prst="rect">
            <a:avLst/>
          </a:prstGeom>
        </p:spPr>
      </p:pic>
      <p:pic>
        <p:nvPicPr>
          <p:cNvPr id="52" name="图片 52" descr="截屏2025-03-11 20.21.24"/>
          <p:cNvPicPr>
            <a:picLocks noChangeAspect="1"/>
          </p:cNvPicPr>
          <p:nvPr>
            <p:custDataLst>
              <p:tags r:id="rId3"/>
            </p:custDataLst>
          </p:nvPr>
        </p:nvPicPr>
        <p:blipFill>
          <a:blip r:embed="rId4"/>
          <a:stretch>
            <a:fillRect/>
          </a:stretch>
        </p:blipFill>
        <p:spPr>
          <a:xfrm>
            <a:off x="5776595" y="1992630"/>
            <a:ext cx="4922520" cy="306260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36220" y="361315"/>
            <a:ext cx="10515600" cy="1325563"/>
          </a:xfrm>
        </p:spPr>
        <p:txBody>
          <a:bodyPr>
            <a:normAutofit/>
          </a:bodyPr>
          <a:p>
            <a:r>
              <a:rPr lang="en-US" altLang="zh-CN" b="1">
                <a:sym typeface="+mn-ea"/>
              </a:rPr>
              <a:t>Findings </a:t>
            </a:r>
            <a:r>
              <a:rPr lang="zh-CN" altLang="en-US" b="1">
                <a:sym typeface="+mn-ea"/>
              </a:rPr>
              <a:t>——</a:t>
            </a:r>
            <a:r>
              <a:rPr lang="en-US" altLang="zh-CN" b="1">
                <a:sym typeface="+mn-ea"/>
              </a:rPr>
              <a:t> Economic Level</a:t>
            </a:r>
            <a:endParaRPr lang="en-US" altLang="zh-CN" b="1">
              <a:sym typeface="+mn-ea"/>
            </a:endParaRPr>
          </a:p>
        </p:txBody>
      </p:sp>
      <p:pic>
        <p:nvPicPr>
          <p:cNvPr id="53" name="图片 53" descr="截屏2025-03-11 20.22.52"/>
          <p:cNvPicPr>
            <a:picLocks noChangeAspect="1"/>
          </p:cNvPicPr>
          <p:nvPr>
            <p:custDataLst>
              <p:tags r:id="rId1"/>
            </p:custDataLst>
          </p:nvPr>
        </p:nvPicPr>
        <p:blipFill>
          <a:blip r:embed="rId2"/>
          <a:stretch>
            <a:fillRect/>
          </a:stretch>
        </p:blipFill>
        <p:spPr>
          <a:xfrm>
            <a:off x="6228715" y="1875790"/>
            <a:ext cx="5473065" cy="3393440"/>
          </a:xfrm>
          <a:prstGeom prst="rect">
            <a:avLst/>
          </a:prstGeom>
        </p:spPr>
      </p:pic>
      <p:pic>
        <p:nvPicPr>
          <p:cNvPr id="56" name="图片 56" descr="截屏2025-03-11 20.30.52"/>
          <p:cNvPicPr>
            <a:picLocks noChangeAspect="1"/>
          </p:cNvPicPr>
          <p:nvPr>
            <p:custDataLst>
              <p:tags r:id="rId3"/>
            </p:custDataLst>
          </p:nvPr>
        </p:nvPicPr>
        <p:blipFill>
          <a:blip r:embed="rId4"/>
          <a:stretch>
            <a:fillRect/>
          </a:stretch>
        </p:blipFill>
        <p:spPr>
          <a:xfrm>
            <a:off x="403225" y="1875790"/>
            <a:ext cx="5568315" cy="339344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36220" y="425450"/>
            <a:ext cx="11281410" cy="1325880"/>
          </a:xfrm>
        </p:spPr>
        <p:txBody>
          <a:bodyPr>
            <a:normAutofit fontScale="90000"/>
          </a:bodyPr>
          <a:p>
            <a:r>
              <a:rPr lang="en-US" altLang="zh-CN" b="1">
                <a:sym typeface="+mn-ea"/>
              </a:rPr>
              <a:t>Findings </a:t>
            </a:r>
            <a:br>
              <a:rPr lang="en-US" altLang="zh-CN" b="1">
                <a:sym typeface="+mn-ea"/>
              </a:rPr>
            </a:br>
            <a:r>
              <a:rPr lang="zh-CN" altLang="en-US" sz="4000" b="1">
                <a:sym typeface="+mn-ea"/>
              </a:rPr>
              <a:t>——</a:t>
            </a:r>
            <a:r>
              <a:rPr lang="en-US" altLang="zh-CN" sz="4000" b="1">
                <a:sym typeface="+mn-ea"/>
              </a:rPr>
              <a:t> Lesbian discrimination in different countries</a:t>
            </a:r>
            <a:endParaRPr lang="en-US" altLang="zh-CN" sz="4000" b="1">
              <a:sym typeface="+mn-ea"/>
            </a:endParaRPr>
          </a:p>
        </p:txBody>
      </p:sp>
      <p:pic>
        <p:nvPicPr>
          <p:cNvPr id="58" name="图片 58" descr="截屏2025-03-11 20.54.35"/>
          <p:cNvPicPr>
            <a:picLocks noChangeAspect="1"/>
          </p:cNvPicPr>
          <p:nvPr>
            <p:custDataLst>
              <p:tags r:id="rId1"/>
            </p:custDataLst>
          </p:nvPr>
        </p:nvPicPr>
        <p:blipFill>
          <a:blip r:embed="rId2"/>
          <a:stretch>
            <a:fillRect/>
          </a:stretch>
        </p:blipFill>
        <p:spPr>
          <a:xfrm>
            <a:off x="790575" y="2066925"/>
            <a:ext cx="5250815" cy="3298190"/>
          </a:xfrm>
          <a:prstGeom prst="rect">
            <a:avLst/>
          </a:prstGeom>
        </p:spPr>
      </p:pic>
      <p:pic>
        <p:nvPicPr>
          <p:cNvPr id="59" name="图片 59" descr="截屏2025-03-11 20.54.49"/>
          <p:cNvPicPr>
            <a:picLocks noChangeAspect="1"/>
          </p:cNvPicPr>
          <p:nvPr>
            <p:custDataLst>
              <p:tags r:id="rId3"/>
            </p:custDataLst>
          </p:nvPr>
        </p:nvPicPr>
        <p:blipFill>
          <a:blip r:embed="rId4"/>
          <a:stretch>
            <a:fillRect/>
          </a:stretch>
        </p:blipFill>
        <p:spPr>
          <a:xfrm>
            <a:off x="6272530" y="2066925"/>
            <a:ext cx="5596255" cy="329819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35305" y="371475"/>
            <a:ext cx="10515600" cy="1325563"/>
          </a:xfrm>
        </p:spPr>
        <p:txBody>
          <a:bodyPr>
            <a:normAutofit/>
          </a:bodyPr>
          <a:p>
            <a:r>
              <a:rPr lang="en-US" sz="4000" b="1">
                <a:latin typeface="Calibri" charset="0"/>
                <a:cs typeface="宋体" charset="0"/>
                <a:sym typeface="+mn-ea"/>
              </a:rPr>
              <a:t>Key Takeaways</a:t>
            </a:r>
            <a:endParaRPr lang="en-US" altLang="zh-CN" sz="4000" b="1">
              <a:latin typeface="Calibri" charset="0"/>
              <a:cs typeface="宋体" charset="0"/>
              <a:sym typeface="+mn-ea"/>
            </a:endParaRPr>
          </a:p>
        </p:txBody>
      </p:sp>
      <p:sp>
        <p:nvSpPr>
          <p:cNvPr id="3" name="文本框 2"/>
          <p:cNvSpPr txBox="1"/>
          <p:nvPr/>
        </p:nvSpPr>
        <p:spPr>
          <a:xfrm>
            <a:off x="819785" y="1697355"/>
            <a:ext cx="11175365" cy="4358640"/>
          </a:xfrm>
          <a:prstGeom prst="rect">
            <a:avLst/>
          </a:prstGeom>
          <a:noFill/>
          <a:ln w="9525">
            <a:noFill/>
          </a:ln>
        </p:spPr>
        <p:txBody>
          <a:bodyPr>
            <a:noAutofit/>
          </a:bodyPr>
          <a:p>
            <a:pPr marL="285750" indent="-285750" algn="l">
              <a:lnSpc>
                <a:spcPct val="120000"/>
              </a:lnSpc>
              <a:spcBef>
                <a:spcPts val="0"/>
              </a:spcBef>
              <a:spcAft>
                <a:spcPts val="0"/>
              </a:spcAft>
              <a:buFont typeface="Arial" panose="020B0604020202090204" pitchFamily="34" charset="0"/>
              <a:buChar char="•"/>
            </a:pPr>
            <a:r>
              <a:rPr lang="en-US" sz="2400" b="0">
                <a:latin typeface="Calibri" charset="0"/>
                <a:cs typeface="宋体" charset="0"/>
              </a:rPr>
              <a:t>🌍 </a:t>
            </a:r>
            <a:r>
              <a:rPr lang="en-US" sz="2400" b="1">
                <a:latin typeface="Calibri" charset="0"/>
                <a:cs typeface="宋体" charset="0"/>
              </a:rPr>
              <a:t>Who Faces the Highest Risk?</a:t>
            </a:r>
            <a:endParaRPr lang="en-US" sz="2400" b="0">
              <a:latin typeface="Calibri" charset="0"/>
              <a:cs typeface="宋体" charset="0"/>
            </a:endParaRPr>
          </a:p>
          <a:p>
            <a:pPr marL="742950" lvl="1" indent="-285750" algn="l">
              <a:lnSpc>
                <a:spcPct val="120000"/>
              </a:lnSpc>
              <a:spcBef>
                <a:spcPts val="0"/>
              </a:spcBef>
              <a:spcAft>
                <a:spcPts val="0"/>
              </a:spcAft>
              <a:buFont typeface="Arial" panose="020B0604020202090204" pitchFamily="34" charset="0"/>
              <a:buChar char="•"/>
            </a:pPr>
            <a:r>
              <a:rPr lang="en-US" sz="2000" b="0">
                <a:latin typeface="Calibri" charset="0"/>
                <a:cs typeface="宋体" charset="0"/>
              </a:rPr>
              <a:t>Transgender &amp; non-binary individuals</a:t>
            </a:r>
            <a:endParaRPr lang="en-US" sz="2000" b="0">
              <a:latin typeface="Calibri" charset="0"/>
              <a:cs typeface="宋体" charset="0"/>
            </a:endParaRPr>
          </a:p>
          <a:p>
            <a:pPr marL="742950" lvl="1" indent="-285750" algn="l">
              <a:lnSpc>
                <a:spcPct val="120000"/>
              </a:lnSpc>
              <a:spcBef>
                <a:spcPts val="0"/>
              </a:spcBef>
              <a:spcAft>
                <a:spcPts val="0"/>
              </a:spcAft>
              <a:buFont typeface="Arial" panose="020B0604020202090204" pitchFamily="34" charset="0"/>
              <a:buChar char="•"/>
            </a:pPr>
            <a:r>
              <a:rPr lang="en-US" sz="2000" b="0">
                <a:latin typeface="Calibri" charset="0"/>
                <a:cs typeface="宋体" charset="0"/>
              </a:rPr>
              <a:t>Low-income individuals</a:t>
            </a:r>
            <a:endParaRPr lang="en-US" sz="2000" b="0">
              <a:latin typeface="Calibri" charset="0"/>
              <a:cs typeface="宋体" charset="0"/>
            </a:endParaRPr>
          </a:p>
          <a:p>
            <a:pPr marL="742950" lvl="1" indent="-285750" algn="l">
              <a:lnSpc>
                <a:spcPct val="120000"/>
              </a:lnSpc>
              <a:spcBef>
                <a:spcPts val="0"/>
              </a:spcBef>
              <a:spcAft>
                <a:spcPts val="0"/>
              </a:spcAft>
              <a:buFont typeface="Arial" panose="020B0604020202090204" pitchFamily="34" charset="0"/>
              <a:buChar char="•"/>
            </a:pPr>
            <a:r>
              <a:rPr lang="en-US" sz="2000" b="0">
                <a:latin typeface="Calibri" charset="0"/>
                <a:cs typeface="宋体" charset="0"/>
              </a:rPr>
              <a:t>Multiply marginalized groups (e.g., racial, ethnic, religious minorities)</a:t>
            </a:r>
            <a:endParaRPr lang="en-US" sz="2000" b="0">
              <a:latin typeface="Calibri" charset="0"/>
              <a:cs typeface="宋体" charset="0"/>
            </a:endParaRPr>
          </a:p>
          <a:p>
            <a:pPr marL="742950" lvl="1" indent="-285750" algn="l">
              <a:lnSpc>
                <a:spcPct val="120000"/>
              </a:lnSpc>
              <a:spcBef>
                <a:spcPts val="0"/>
              </a:spcBef>
              <a:spcAft>
                <a:spcPts val="0"/>
              </a:spcAft>
              <a:buFont typeface="Arial" panose="020B0604020202090204" pitchFamily="34" charset="0"/>
              <a:buChar char="•"/>
            </a:pPr>
            <a:endParaRPr lang="en-US" sz="2400" b="0">
              <a:latin typeface="Calibri" charset="0"/>
              <a:cs typeface="宋体" charset="0"/>
            </a:endParaRPr>
          </a:p>
          <a:p>
            <a:pPr marL="285750" indent="-285750" algn="l">
              <a:lnSpc>
                <a:spcPct val="120000"/>
              </a:lnSpc>
              <a:spcBef>
                <a:spcPts val="0"/>
              </a:spcBef>
              <a:spcAft>
                <a:spcPts val="0"/>
              </a:spcAft>
              <a:buFont typeface="Arial" panose="020B0604020202090204" pitchFamily="34" charset="0"/>
              <a:buChar char="•"/>
            </a:pPr>
            <a:r>
              <a:rPr lang="en-US" sz="2400" b="0">
                <a:latin typeface="Calibri" charset="0"/>
                <a:cs typeface="宋体" charset="0"/>
              </a:rPr>
              <a:t>📊</a:t>
            </a:r>
            <a:r>
              <a:rPr lang="en-US" sz="2400" b="1">
                <a:latin typeface="Calibri" charset="0"/>
                <a:cs typeface="宋体" charset="0"/>
              </a:rPr>
              <a:t> What Did the Models Reveal?</a:t>
            </a:r>
            <a:endParaRPr lang="en-US" sz="2400" b="0">
              <a:latin typeface="Calibri" charset="0"/>
              <a:cs typeface="宋体" charset="0"/>
            </a:endParaRPr>
          </a:p>
          <a:p>
            <a:pPr marL="742950" lvl="1" indent="-285750" algn="l">
              <a:lnSpc>
                <a:spcPct val="120000"/>
              </a:lnSpc>
              <a:spcBef>
                <a:spcPts val="0"/>
              </a:spcBef>
              <a:spcAft>
                <a:spcPts val="0"/>
              </a:spcAft>
              <a:buFont typeface="Arial" panose="020B0604020202090204" pitchFamily="34" charset="0"/>
              <a:buChar char="•"/>
            </a:pPr>
            <a:r>
              <a:rPr lang="en-US" sz="2000" b="1">
                <a:solidFill>
                  <a:srgbClr val="7030A0"/>
                </a:solidFill>
                <a:latin typeface="Calibri" charset="0"/>
                <a:cs typeface="宋体" charset="0"/>
              </a:rPr>
              <a:t>XGBoost</a:t>
            </a:r>
            <a:r>
              <a:rPr lang="en-US" sz="2000" b="0">
                <a:latin typeface="Calibri" charset="0"/>
                <a:cs typeface="宋体" charset="0"/>
              </a:rPr>
              <a:t> outperformed Lasso and Random Forest in predicting discrimination and violence.</a:t>
            </a:r>
            <a:endParaRPr lang="en-US" sz="2000" b="0">
              <a:latin typeface="Calibri" charset="0"/>
              <a:cs typeface="宋体" charset="0"/>
            </a:endParaRPr>
          </a:p>
          <a:p>
            <a:pPr marL="742950" lvl="1" indent="-285750" algn="l">
              <a:lnSpc>
                <a:spcPct val="120000"/>
              </a:lnSpc>
              <a:spcBef>
                <a:spcPts val="0"/>
              </a:spcBef>
              <a:spcAft>
                <a:spcPts val="0"/>
              </a:spcAft>
              <a:buFont typeface="Arial" panose="020B0604020202090204" pitchFamily="34" charset="0"/>
              <a:buChar char="•"/>
            </a:pPr>
            <a:r>
              <a:rPr lang="en-US" sz="2000" b="1">
                <a:solidFill>
                  <a:srgbClr val="7030A0"/>
                </a:solidFill>
                <a:latin typeface="Calibri" charset="0"/>
                <a:cs typeface="宋体" charset="0"/>
              </a:rPr>
              <a:t>Key predictors: </a:t>
            </a:r>
            <a:r>
              <a:rPr lang="en-US" sz="2000" b="0">
                <a:latin typeface="Calibri" charset="0"/>
                <a:cs typeface="宋体" charset="0"/>
              </a:rPr>
              <a:t>Gender identity, economic status, location comfort, and outness level.</a:t>
            </a:r>
            <a:endParaRPr lang="en-US" sz="2000" b="0">
              <a:latin typeface="Calibri" charset="0"/>
              <a:cs typeface="宋体" charset="0"/>
            </a:endParaRPr>
          </a:p>
          <a:p>
            <a:pPr marL="742950" lvl="1" indent="-285750" algn="l">
              <a:lnSpc>
                <a:spcPct val="120000"/>
              </a:lnSpc>
              <a:spcBef>
                <a:spcPts val="0"/>
              </a:spcBef>
              <a:spcAft>
                <a:spcPts val="0"/>
              </a:spcAft>
              <a:buFont typeface="Arial" panose="020B0604020202090204" pitchFamily="34" charset="0"/>
              <a:buChar char="•"/>
            </a:pPr>
            <a:r>
              <a:rPr lang="en-US" sz="2000" b="1">
                <a:solidFill>
                  <a:srgbClr val="7030A0"/>
                </a:solidFill>
                <a:latin typeface="Calibri" charset="0"/>
                <a:cs typeface="宋体" charset="0"/>
              </a:rPr>
              <a:t>Country-level differences: </a:t>
            </a:r>
            <a:r>
              <a:rPr lang="en-US" sz="2000" b="0">
                <a:latin typeface="Calibri" charset="0"/>
                <a:cs typeface="宋体" charset="0"/>
              </a:rPr>
              <a:t>Discrimination varies across nations, with some providing safer environments.</a:t>
            </a:r>
            <a:endParaRPr lang="en-US" sz="2000" b="0">
              <a:latin typeface="Calibri" charset="0"/>
              <a:cs typeface="宋体" charset="0"/>
            </a:endParaRPr>
          </a:p>
          <a:p>
            <a:pPr marL="285750" indent="-285750" algn="l">
              <a:buFont typeface="Arial" panose="020B0604020202090204" pitchFamily="34" charset="0"/>
              <a:buChar char="•"/>
            </a:pPr>
            <a:endParaRPr lang="en-US" sz="2000" b="0">
              <a:latin typeface="Calibri" charset="0"/>
              <a:cs typeface="宋体"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35305" y="371475"/>
            <a:ext cx="10515600" cy="1325563"/>
          </a:xfrm>
        </p:spPr>
        <p:txBody>
          <a:bodyPr>
            <a:normAutofit/>
          </a:bodyPr>
          <a:p>
            <a:r>
              <a:rPr lang="en-US" sz="4000" b="1">
                <a:latin typeface="Calibri" charset="0"/>
                <a:cs typeface="宋体" charset="0"/>
                <a:sym typeface="+mn-ea"/>
              </a:rPr>
              <a:t>Implications &amp; Next Steps</a:t>
            </a:r>
            <a:endParaRPr lang="en-US" altLang="zh-CN" sz="4000" b="1">
              <a:latin typeface="Calibri" charset="0"/>
              <a:cs typeface="宋体" charset="0"/>
              <a:sym typeface="+mn-ea"/>
            </a:endParaRPr>
          </a:p>
        </p:txBody>
      </p:sp>
      <p:sp>
        <p:nvSpPr>
          <p:cNvPr id="3" name="文本框 2"/>
          <p:cNvSpPr txBox="1"/>
          <p:nvPr/>
        </p:nvSpPr>
        <p:spPr>
          <a:xfrm>
            <a:off x="535305" y="1697355"/>
            <a:ext cx="11175365" cy="2777490"/>
          </a:xfrm>
          <a:prstGeom prst="rect">
            <a:avLst/>
          </a:prstGeom>
          <a:noFill/>
          <a:ln w="9525">
            <a:noFill/>
          </a:ln>
        </p:spPr>
        <p:txBody>
          <a:bodyPr>
            <a:noAutofit/>
          </a:bodyPr>
          <a:p>
            <a:pPr marL="285750" indent="-285750" algn="l">
              <a:lnSpc>
                <a:spcPct val="150000"/>
              </a:lnSpc>
              <a:buFont typeface="Arial" panose="020B0604020202090204" pitchFamily="34" charset="0"/>
              <a:buChar char="•"/>
            </a:pPr>
            <a:r>
              <a:rPr lang="en-US" sz="2800" b="0">
                <a:latin typeface="Calibri" charset="0"/>
                <a:cs typeface="宋体" charset="0"/>
              </a:rPr>
              <a:t>Policy interventions</a:t>
            </a:r>
            <a:endParaRPr lang="en-US" sz="2800" b="0">
              <a:latin typeface="Calibri" charset="0"/>
              <a:cs typeface="宋体" charset="0"/>
            </a:endParaRPr>
          </a:p>
          <a:p>
            <a:pPr marL="285750" indent="-285750" algn="l">
              <a:lnSpc>
                <a:spcPct val="150000"/>
              </a:lnSpc>
              <a:buFont typeface="Arial" panose="020B0604020202090204" pitchFamily="34" charset="0"/>
              <a:buChar char="•"/>
            </a:pPr>
            <a:r>
              <a:rPr lang="en-US" sz="2800" b="0">
                <a:latin typeface="Calibri" charset="0"/>
                <a:cs typeface="宋体" charset="0"/>
              </a:rPr>
              <a:t>Better data representation is needed for minority subgroups to improve predictive accuracy.</a:t>
            </a:r>
            <a:endParaRPr lang="en-US" sz="2800" b="0">
              <a:latin typeface="Calibri" charset="0"/>
              <a:cs typeface="宋体" charset="0"/>
            </a:endParaRPr>
          </a:p>
          <a:p>
            <a:pPr marL="285750" indent="-285750" algn="l">
              <a:lnSpc>
                <a:spcPct val="150000"/>
              </a:lnSpc>
              <a:buFont typeface="Arial" panose="020B0604020202090204" pitchFamily="34" charset="0"/>
              <a:buChar char="•"/>
            </a:pPr>
            <a:r>
              <a:rPr lang="en-US" sz="2800" b="0">
                <a:latin typeface="Calibri" charset="0"/>
                <a:cs typeface="宋体" charset="0"/>
              </a:rPr>
              <a:t>Future research should explore longitudinal trends and additional socioeconomic factors.</a:t>
            </a:r>
            <a:endParaRPr lang="en-US" sz="2800" b="0">
              <a:latin typeface="Calibri" charset="0"/>
              <a:cs typeface="宋体"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254250" y="2870835"/>
            <a:ext cx="4064000" cy="922020"/>
          </a:xfrm>
          <a:prstGeom prst="rect">
            <a:avLst/>
          </a:prstGeom>
          <a:noFill/>
        </p:spPr>
        <p:txBody>
          <a:bodyPr wrap="square" rtlCol="0">
            <a:spAutoFit/>
          </a:bodyPr>
          <a:p>
            <a:r>
              <a:rPr lang="en-US" altLang="zh-CN" sz="5400">
                <a:cs typeface="+mn-lt"/>
              </a:rPr>
              <a:t>Thank you</a:t>
            </a:r>
            <a:r>
              <a:rPr lang="zh-CN" altLang="en-US" sz="5400">
                <a:cs typeface="+mn-lt"/>
              </a:rPr>
              <a:t>！</a:t>
            </a:r>
            <a:endParaRPr lang="zh-CN" altLang="en-US" sz="5400">
              <a:cs typeface="+mn-lt"/>
            </a:endParaRPr>
          </a:p>
        </p:txBody>
      </p:sp>
      <p:pic>
        <p:nvPicPr>
          <p:cNvPr id="5" name="图片 4" descr="截屏2025-03-12 12.19.38"/>
          <p:cNvPicPr>
            <a:picLocks noChangeAspect="1"/>
          </p:cNvPicPr>
          <p:nvPr/>
        </p:nvPicPr>
        <p:blipFill>
          <a:blip r:embed="rId1"/>
          <a:stretch>
            <a:fillRect/>
          </a:stretch>
        </p:blipFill>
        <p:spPr>
          <a:xfrm>
            <a:off x="7151370" y="1282700"/>
            <a:ext cx="4483100" cy="4292600"/>
          </a:xfrm>
          <a:prstGeom prst="rect">
            <a:avLst/>
          </a:prstGeom>
        </p:spPr>
      </p:pic>
    </p:spTree>
  </p:cSld>
  <p:clrMapOvr>
    <a:masterClrMapping/>
  </p:clrMapOvr>
</p:sld>
</file>

<file path=ppt/tags/tag1.xml><?xml version="1.0" encoding="utf-8"?>
<p:tagLst xmlns:p="http://schemas.openxmlformats.org/presentationml/2006/main">
  <p:tag name="TABLE_ENDDRAG_ORIGIN_RECT" val="322*178"/>
  <p:tag name="TABLE_ENDDRAG_RECT" val="480*284*322*178"/>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heme/theme1.xml><?xml version="1.0" encoding="utf-8"?>
<a:theme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宋体"/>
        <a:cs typeface=""/>
      </a:majorFont>
      <a:minorFont>
        <a:latin typeface="Calibri"/>
        <a:ea typeface="宋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4954</Words>
  <Application>WPS 表格</Application>
  <PresentationFormat>宽屏</PresentationFormat>
  <Paragraphs>332</Paragraphs>
  <Slides>31</Slides>
  <Notes>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31</vt:i4>
      </vt:variant>
    </vt:vector>
  </HeadingPairs>
  <TitlesOfParts>
    <vt:vector size="45" baseType="lpstr">
      <vt:lpstr>Arial</vt:lpstr>
      <vt:lpstr>宋体</vt:lpstr>
      <vt:lpstr>Wingdings</vt:lpstr>
      <vt:lpstr>Calibri</vt:lpstr>
      <vt:lpstr>Helvetica Neue</vt:lpstr>
      <vt:lpstr>汉仪书宋二KW</vt:lpstr>
      <vt:lpstr>微软雅黑</vt:lpstr>
      <vt:lpstr>宋体</vt:lpstr>
      <vt:lpstr>Arial Unicode MS</vt:lpstr>
      <vt:lpstr>Times New Roman</vt:lpstr>
      <vt:lpstr>Wingdings</vt:lpstr>
      <vt:lpstr>Times New Roman Regular</vt:lpstr>
      <vt:lpstr>Apple Color Emoji</vt:lpstr>
      <vt:lpstr>WPS</vt:lpstr>
      <vt:lpstr>PowerPoint 演示文稿</vt:lpstr>
      <vt:lpstr>PowerPoint 演示文稿</vt:lpstr>
      <vt:lpstr>Research Question</vt:lpstr>
      <vt:lpstr>Research Question</vt:lpstr>
      <vt:lpstr>Introduction of Dataset</vt:lpstr>
      <vt:lpstr>Explorary Data Analysis</vt:lpstr>
      <vt:lpstr>Descriptive Analysis</vt:lpstr>
      <vt:lpstr>EDA —— Discrimination</vt:lpstr>
      <vt:lpstr>Dependent Variable —— Discrimination</vt:lpstr>
      <vt:lpstr>Dependent Variable —— Discrimination</vt:lpstr>
      <vt:lpstr>EDA —— Violence</vt:lpstr>
      <vt:lpstr>EDA —— Violence</vt:lpstr>
      <vt:lpstr>Machine Learning Model —— Violence</vt:lpstr>
      <vt:lpstr>Random Forest —— Violence</vt:lpstr>
      <vt:lpstr>Random Forest —— Violence</vt:lpstr>
      <vt:lpstr>XGBoost —— Violence</vt:lpstr>
      <vt:lpstr>XGBoost Tuning—— Violence</vt:lpstr>
      <vt:lpstr>XGBoost Tuning—— Violence</vt:lpstr>
      <vt:lpstr>Machine Learning Models—— Discrimination</vt:lpstr>
      <vt:lpstr>Lasso Regression —— Discrimination</vt:lpstr>
      <vt:lpstr>XGBoost —— Discrimination</vt:lpstr>
      <vt:lpstr>Random Forest —— Discrimination</vt:lpstr>
      <vt:lpstr>Model Comparison —— Discrimination</vt:lpstr>
      <vt:lpstr>Model Comparison —— Discrimination</vt:lpstr>
      <vt:lpstr>Feature Importance —— Discrimination</vt:lpstr>
      <vt:lpstr>Findings —— Gender</vt:lpstr>
      <vt:lpstr>Findings —— Minority</vt:lpstr>
      <vt:lpstr>Findings —— Economic Level</vt:lpstr>
      <vt:lpstr>Findings  —— Lesbian discrimination in different countries</vt:lpstr>
      <vt:lpstr>Key Takeaways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薛文迪</cp:lastModifiedBy>
  <cp:revision>12</cp:revision>
  <dcterms:created xsi:type="dcterms:W3CDTF">2025-03-12T17:19:53Z</dcterms:created>
  <dcterms:modified xsi:type="dcterms:W3CDTF">2025-03-12T17:19:53Z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2052-6.7.1.8828</vt:lpwstr>
  </property>
  <property fmtid="{D5CDD505-2E9C-101B-9397-08002B2CF9AE}" pid="3" name="ICV">
    <vt:lpwstr>4337D099D359B623A005D1677ABE708D_41</vt:lpwstr>
  </property>
</Properties>
</file>